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Cairo" pitchFamily="34" charset="0"/>
      <p:regular r:id="rId27"/>
      <p:bold r:id="rId28"/>
    </p:embeddedFont>
    <p:embeddedFont>
      <p:font typeface="Montserrat" pitchFamily="34" charset="0"/>
      <p:regular r:id="rId29"/>
      <p:bold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deck walks through what we found in the El-Sharnouby data, what it means, and what to do first. Every slide has English and Arabic. The screenshots are from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Eighteen tables covering sales, inventory, customers, factory, printing, quality, marketing, web, service and purchasing. Important caveat: most tables are modeled data, so the value here is the method and the questions it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wholesale is 85 percent of sales but earns only 11.9 percent margin, against about 35 to 37 percent in online and retail. That is why one pricing decision in wholesale moves total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in one slide. The forecast was tested on months it had not seen, which is why we can quote error rates. The replenishment rule is the standard reorder point logic with a 95 percent service level. Everything is computed from the files, nothing is typed in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screen of the dashboard. Six problems, ranked, each with a severity, a confidence level and a button to the fix. The next slides go through each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1 is the summary: sales, margin, stock, factory and the Q4 forecast. The key point is that growth is modest and margin is low, and every swing in total sales is a wholesale swing.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The old reorder points flagged 36 products; recalculating with lead time, a 30-day buffer and safety stock flags 43. Meanwhile retail and online carry far more cover than wholesale.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The segments look useful, but the data is modeled, so behavior barely differs between them. We say that plainly and recommend a small controlled test instead of a big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Delays are measured per production stage. Sewing is where most delay days accumulate. Quality-control reject rate is flat at about 2.4 percent, so it is not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The ranking between platforms is the useful part. The absolute return numbers are inflated because attributed revenue is larger than actual online sales, which we flag as a data-quality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Branches. We rank governorates by sales and look for demand that has no branch yet. Cost data per location is not in the files, so this is a shortlist, not a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Procurement. Two suppliers drive most of the late deliveries. The gap between purchase-order spend and what the recipes need is too big to be real, so we flag it as a data issue before anyone acts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lets the owner move the discount cap and the share of volume kept, and see profit change live. At a 30 percent cap and 70 percent volume kept, profit rises about 2 million pounds a year, and it still pays off down to 53 percent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 million figure depends on how much volume stays. That is why we propose a 30-day pilot with a clear rule: roll out above 53 percent volume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Assist is not a chatbot connected to an outside model. It is a rule-based engine inside the page, so it is fast, private and free. Its limit is that free-text questions are matched by keywords, so the ready question list is the reliable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choices: dark by default, a light switch for printing and meetings, and a layout that works on a phone. No outside brand name or logo appears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show these gaps instead of hiding them. Stock month-to-month continuity is clean, with zero gaps in 6,195 pairs, but production, marketing and purchasing totals do not reconcile with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client remembers one thing: fix wholesale pricing and wholesale stock first. Everything else is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deliberately small: one tier, one order, one test. Each step produces a number we can check in week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access to real records and approval for the 30-day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60B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57250"/>
            <a:ext cx="5000675" cy="419100"/>
          </a:xfrm>
          <a:prstGeom prst="rect">
            <a:avLst/>
          </a:prstGeom>
          <a:noFill/>
          <a:ln/>
        </p:spPr>
        <p:txBody>
          <a:bodyPr wrap="square" lIns="0" tIns="0" rIns="0" bIns="0" rtlCol="0" anchor="t"/>
          <a:lstStyle>
            <a:lvl1pPr algn="l" indent="0" marL="0">
              <a:lnSpc>
                <a:spcPct val="115000"/>
              </a:lnSpc>
              <a:buNone/>
              <a:defRPr lang="en-US" sz="3000" dirty="0">
                <a:solidFill>
                  <a:srgbClr val="F2F5FF"/>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81150"/>
            <a:ext cx="10566400" cy="4464050"/>
          </a:xfrm>
          <a:prstGeom prst="rect">
            <a:avLst/>
          </a:prstGeom>
          <a:noFill/>
          <a:ln/>
        </p:spPr>
        <p:txBody>
          <a:bodyPr wrap="square" lIns="0" tIns="0" rIns="0" bIns="0" rtlCol="0" anchor="t"/>
          <a:lstStyle>
            <a:lvl1pPr algn="l" indent="0" marL="0">
              <a:lnSpc>
                <a:spcPct val="140000"/>
              </a:lnSpc>
              <a:buNone/>
              <a:defRPr lang="en-US" sz="1600" dirty="0">
                <a:solidFill>
                  <a:srgbClr val="F2F5FF"/>
                </a:solidFill>
                <a:latin typeface="Cairo" pitchFamily="34" charset="0"/>
                <a:ea typeface="Cairo" pitchFamily="34" charset="-122"/>
                <a:cs typeface="Cairo"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57250"/>
            <a:ext cx="5000675" cy="419100"/>
          </a:xfrm>
          <a:prstGeom prst="rect">
            <a:avLst/>
          </a:prstGeom>
          <a:noFill/>
          <a:ln/>
        </p:spPr>
        <p:txBody>
          <a:bodyPr wrap="square" lIns="0" tIns="0" rIns="0" bIns="0" rtlCol="0" anchor="t"/>
          <a:lstStyle>
            <a:lvl1pPr algn="l" indent="0" marL="0">
              <a:lnSpc>
                <a:spcPct val="115000"/>
              </a:lnSpc>
              <a:buNone/>
              <a:defRPr lang="en-US" sz="3000" dirty="0">
                <a:solidFill>
                  <a:srgbClr val="F2F5FF"/>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81150"/>
            <a:ext cx="10566400" cy="4464050"/>
          </a:xfrm>
          <a:prstGeom prst="rect">
            <a:avLst/>
          </a:prstGeom>
          <a:noFill/>
          <a:ln/>
        </p:spPr>
        <p:txBody>
          <a:bodyPr wrap="square" lIns="0" tIns="0" rIns="0" bIns="0" rtlCol="0" anchor="t"/>
          <a:lstStyle>
            <a:lvl1pPr algn="l" indent="0" marL="0">
              <a:lnSpc>
                <a:spcPct val="140000"/>
              </a:lnSpc>
              <a:buNone/>
              <a:defRPr lang="en-US" sz="1600" dirty="0">
                <a:solidFill>
                  <a:srgbClr val="F2F5FF"/>
                </a:solidFill>
                <a:latin typeface="Cairo" pitchFamily="34" charset="0"/>
                <a:ea typeface="Cairo" pitchFamily="34" charset="-122"/>
                <a:cs typeface="Cai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0B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57250"/>
            <a:ext cx="5000675" cy="419100"/>
          </a:xfrm>
          <a:prstGeom prst="rect">
            <a:avLst/>
          </a:prstGeom>
          <a:noFill/>
          <a:ln/>
        </p:spPr>
        <p:txBody>
          <a:bodyPr wrap="square" lIns="0" tIns="0" rIns="0" bIns="0" rtlCol="0" anchor="t"/>
          <a:lstStyle>
            <a:lvl1pPr algn="l" indent="0" marL="0">
              <a:lnSpc>
                <a:spcPct val="115000"/>
              </a:lnSpc>
              <a:buNone/>
              <a:defRPr lang="en-US" sz="3000" dirty="0">
                <a:solidFill>
                  <a:srgbClr val="F2F5FF"/>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81150"/>
            <a:ext cx="10566400" cy="4464050"/>
          </a:xfrm>
          <a:prstGeom prst="rect">
            <a:avLst/>
          </a:prstGeom>
          <a:noFill/>
          <a:ln/>
        </p:spPr>
        <p:txBody>
          <a:bodyPr wrap="square" lIns="0" tIns="0" rIns="0" bIns="0" rtlCol="0" anchor="t"/>
          <a:lstStyle>
            <a:lvl1pPr algn="l" indent="0" marL="0">
              <a:lnSpc>
                <a:spcPct val="140000"/>
              </a:lnSpc>
              <a:buNone/>
              <a:defRPr lang="en-US" sz="1600" dirty="0">
                <a:solidFill>
                  <a:srgbClr val="F2F5FF"/>
                </a:solidFill>
                <a:latin typeface="Cairo" pitchFamily="34" charset="0"/>
                <a:ea typeface="Cairo" pitchFamily="34" charset="-122"/>
                <a:cs typeface="Cair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usiness Health Check screen of the dashboard">    </p:cNvPr>
          <p:cNvPicPr>
            <a:picLocks noChangeAspect="1"/>
          </p:cNvPicPr>
          <p:nvPr/>
        </p:nvPicPr>
        <p:blipFill>
          <a:blip r:embed="rId1"/>
          <a:srcRect l="-153" r="-153" t="0" b="0"/>
          <a:stretch/>
        </p:blipFill>
        <p:spPr>
          <a:xfrm>
            <a:off x="6362700" y="1600200"/>
            <a:ext cx="5003800" cy="3117850"/>
          </a:xfrm>
          <a:prstGeom prst="roundRect">
            <a:avLst>
              <a:gd name="adj" fmla="val 3666"/>
            </a:avLst>
          </a:prstGeom>
          <a:effectLst>
            <a:outerShdw sx="100000" sy="100000" kx="0" ky="0" algn="bl" rotWithShape="0" blurRad="571500" dist="190500" dir="5400000">
              <a:srgbClr val="000000">
                <a:alpha val="100000"/>
              </a:srgbClr>
            </a:outerShdw>
          </a:effectLst>
        </p:spPr>
      </p:pic>
      <p:sp>
        <p:nvSpPr>
          <p:cNvPr id="3" name="Shape 0"/>
          <p:cNvSpPr/>
          <p:nvPr/>
        </p:nvSpPr>
        <p:spPr>
          <a:xfrm>
            <a:off x="6356350" y="1593850"/>
            <a:ext cx="5016500" cy="3130550"/>
          </a:xfrm>
          <a:prstGeom prst="roundRect">
            <a:avLst>
              <a:gd name="adj" fmla="val 3854"/>
            </a:avLst>
          </a:prstGeom>
          <a:noFill/>
          <a:ln w="12700">
            <a:solidFill>
              <a:srgbClr val="3A4DB0"/>
            </a:solidFill>
            <a:prstDash val="solid"/>
          </a:ln>
        </p:spPr>
      </p:sp>
      <p:sp>
        <p:nvSpPr>
          <p:cNvPr id="4" name="Text 1"/>
          <p:cNvSpPr/>
          <p:nvPr/>
        </p:nvSpPr>
        <p:spPr>
          <a:xfrm>
            <a:off x="812800" y="1606550"/>
            <a:ext cx="5232400" cy="25400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22D3EE"/>
                </a:solidFill>
                <a:latin typeface="Cairo" pitchFamily="34" charset="0"/>
                <a:ea typeface="Cairo" pitchFamily="34" charset="-122"/>
                <a:cs typeface="Cairo" pitchFamily="34" charset="-120"/>
              </a:rPr>
              <a:t>BUSINESS INTELLIGENCE REPORT</a:t>
            </a:r>
            <a:endParaRPr lang="en-US" sz="1300" dirty="0"/>
          </a:p>
        </p:txBody>
      </p:sp>
      <p:sp>
        <p:nvSpPr>
          <p:cNvPr id="5" name="Text 2"/>
          <p:cNvSpPr/>
          <p:nvPr>
            <p:ph type="title"/>
          </p:nvPr>
        </p:nvSpPr>
        <p:spPr>
          <a:xfrm>
            <a:off x="812800" y="2012950"/>
            <a:ext cx="5363210" cy="2044700"/>
          </a:xfrm>
          <a:prstGeom prst="rect">
            <a:avLst/>
          </a:prstGeom>
          <a:noFill/>
          <a:ln/>
        </p:spPr>
        <p:txBody>
          <a:bodyPr wrap="square" lIns="0" tIns="0" rIns="0" bIns="0" rtlCol="0" anchor="t">
            <a:normAutofit/>
          </a:bodyPr>
          <a:lstStyle/>
          <a:p>
            <a:pPr algn="l" indent="0" marL="0">
              <a:lnSpc>
                <a:spcPts val="5304"/>
              </a:lnSpc>
              <a:buNone/>
            </a:pPr>
            <a:r>
              <a:rPr lang="en-US" sz="5200" b="1" i="0" dirty="0">
                <a:solidFill>
                  <a:srgbClr val="F2F5FF"/>
                </a:solidFill>
                <a:latin typeface="Montserrat" pitchFamily="34" charset="0"/>
                <a:ea typeface="Montserrat" pitchFamily="34" charset="-122"/>
                <a:cs typeface="Montserrat" pitchFamily="34" charset="-120"/>
              </a:rPr>
              <a:t>El-Sharnouby </a:t>
            </a:r>
            <a:r>
              <a:rPr lang="en-US" sz="5200" b="1" i="0" dirty="0">
                <a:solidFill>
                  <a:srgbClr val="5B8CFF"/>
                </a:solidFill>
                <a:latin typeface="Montserrat" pitchFamily="34" charset="0"/>
                <a:ea typeface="Montserrat" pitchFamily="34" charset="-122"/>
                <a:cs typeface="Montserrat" pitchFamily="34" charset="-120"/>
              </a:rPr>
              <a:t>Command Center</a:t>
            </a:r>
            <a:endParaRPr lang="en-US" sz="5200" dirty="0"/>
          </a:p>
        </p:txBody>
      </p:sp>
      <p:sp>
        <p:nvSpPr>
          <p:cNvPr id="6" name="Text 3"/>
          <p:cNvSpPr/>
          <p:nvPr/>
        </p:nvSpPr>
        <p:spPr>
          <a:xfrm>
            <a:off x="812800" y="4210050"/>
            <a:ext cx="5537200" cy="33020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4BFE6"/>
                </a:solidFill>
                <a:latin typeface="Cairo" pitchFamily="34" charset="0"/>
                <a:ea typeface="Cairo" pitchFamily="34" charset="-122"/>
                <a:cs typeface="Cairo" pitchFamily="34" charset="-120"/>
              </a:rPr>
              <a:t>Analysis, forecasts and decisions from 18 data files</a:t>
            </a:r>
            <a:endParaRPr lang="en-US" sz="1800" dirty="0"/>
          </a:p>
        </p:txBody>
      </p:sp>
      <p:sp>
        <p:nvSpPr>
          <p:cNvPr id="7" name="Text 4"/>
          <p:cNvSpPr/>
          <p:nvPr/>
        </p:nvSpPr>
        <p:spPr>
          <a:xfrm>
            <a:off x="660400" y="4692650"/>
            <a:ext cx="523240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22D3EE"/>
                </a:solidFill>
                <a:latin typeface="Cairo" pitchFamily="34" charset="0"/>
                <a:ea typeface="Cairo" pitchFamily="34" charset="-122"/>
                <a:cs typeface="Cairo" pitchFamily="34" charset="-120"/>
              </a:rPr>
              <a:t>تحليل وتوقعات وقرارات من 18 ملف بيانات</a:t>
            </a:r>
            <a:endParaRPr lang="en-US" sz="2000" dirty="0"/>
          </a:p>
        </p:txBody>
      </p:sp>
      <p:sp>
        <p:nvSpPr>
          <p:cNvPr id="8" name="Text 5"/>
          <p:cNvSpPr/>
          <p:nvPr/>
        </p:nvSpPr>
        <p:spPr>
          <a:xfrm>
            <a:off x="812800" y="6242050"/>
            <a:ext cx="309145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Oct 2023 – Sep 2026 · Leo Moda · Egypt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3879436"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01 · SCOPE</a:t>
            </a:r>
            <a:endParaRPr lang="en-US" sz="1200" dirty="0"/>
          </a:p>
        </p:txBody>
      </p:sp>
      <p:sp>
        <p:nvSpPr>
          <p:cNvPr id="3" name="Text 1"/>
          <p:cNvSpPr/>
          <p:nvPr>
            <p:ph type="title"/>
          </p:nvPr>
        </p:nvSpPr>
        <p:spPr>
          <a:xfrm>
            <a:off x="812800" y="857250"/>
            <a:ext cx="451973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What we analyzed</a:t>
            </a:r>
            <a:endParaRPr lang="en-US" sz="3000" dirty="0"/>
          </a:p>
        </p:txBody>
      </p:sp>
      <p:sp>
        <p:nvSpPr>
          <p:cNvPr id="4" name="Text 2"/>
          <p:cNvSpPr/>
          <p:nvPr/>
        </p:nvSpPr>
        <p:spPr>
          <a:xfrm>
            <a:off x="7193280" y="984250"/>
            <a:ext cx="418592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إيه اللي حلّلناه</a:t>
            </a:r>
            <a:endParaRPr lang="en-US" sz="1800" dirty="0"/>
          </a:p>
        </p:txBody>
      </p:sp>
      <p:sp>
        <p:nvSpPr>
          <p:cNvPr id="5" name="Shape 3"/>
          <p:cNvSpPr/>
          <p:nvPr/>
        </p:nvSpPr>
        <p:spPr>
          <a:xfrm>
            <a:off x="812800" y="1530350"/>
            <a:ext cx="2527300" cy="2082800"/>
          </a:xfrm>
          <a:prstGeom prst="roundRect">
            <a:avLst>
              <a:gd name="adj" fmla="val 6098"/>
            </a:avLst>
          </a:prstGeom>
          <a:solidFill>
            <a:srgbClr val="0E1745"/>
          </a:solidFill>
          <a:ln/>
        </p:spPr>
      </p:sp>
      <p:sp>
        <p:nvSpPr>
          <p:cNvPr id="6" name="Shape 4"/>
          <p:cNvSpPr/>
          <p:nvPr/>
        </p:nvSpPr>
        <p:spPr>
          <a:xfrm>
            <a:off x="812800" y="1530350"/>
            <a:ext cx="2527300" cy="2082800"/>
          </a:xfrm>
          <a:custGeom>
            <a:avLst/>
            <a:gdLst/>
            <a:ahLst/>
            <a:cxnLst/>
            <a:rect l="l" t="t" r="r" b="b"/>
            <a:pathLst>
              <a:path w="2527300" h="2082800">
                <a:moveTo>
                  <a:pt x="0" y="127000"/>
                </a:moveTo>
                <a:lnTo>
                  <a:pt x="0" y="127000"/>
                </a:lnTo>
                <a:arcTo hR="127000" wR="127000" stAng="10800000" swAng="5400000"/>
                <a:lnTo>
                  <a:pt x="2400300" y="0"/>
                </a:lnTo>
                <a:arcTo hR="127000" wR="127000" stAng="16200000" swAng="5400000"/>
                <a:lnTo>
                  <a:pt x="2527300" y="127000"/>
                </a:lnTo>
                <a:arcTo hR="88900" wR="127000" stAng="0" swAng="-5400000"/>
                <a:lnTo>
                  <a:pt x="127000" y="38100"/>
                </a:lnTo>
                <a:arcTo hR="88900" wR="127000" stAng="16200000" swAng="-5400000"/>
                <a:close/>
              </a:path>
            </a:pathLst>
          </a:custGeom>
          <a:solidFill>
            <a:srgbClr val="5B8CFF"/>
          </a:solidFill>
          <a:ln/>
        </p:spPr>
      </p:sp>
      <p:sp>
        <p:nvSpPr>
          <p:cNvPr id="7" name="Text 5"/>
          <p:cNvSpPr/>
          <p:nvPr/>
        </p:nvSpPr>
        <p:spPr>
          <a:xfrm>
            <a:off x="1016000" y="1797050"/>
            <a:ext cx="2184527" cy="558800"/>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F2F5FF"/>
                </a:solidFill>
                <a:latin typeface="Montserrat" pitchFamily="34" charset="0"/>
                <a:ea typeface="Montserrat" pitchFamily="34" charset="-122"/>
                <a:cs typeface="Montserrat" pitchFamily="34" charset="-120"/>
              </a:rPr>
              <a:t>18</a:t>
            </a:r>
            <a:endParaRPr lang="en-US" sz="4200" dirty="0"/>
          </a:p>
        </p:txBody>
      </p:sp>
      <p:sp>
        <p:nvSpPr>
          <p:cNvPr id="8" name="Text 6"/>
          <p:cNvSpPr/>
          <p:nvPr/>
        </p:nvSpPr>
        <p:spPr>
          <a:xfrm>
            <a:off x="1016000" y="2381250"/>
            <a:ext cx="2184527"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data tables</a:t>
            </a:r>
            <a:endParaRPr lang="en-US" sz="1400" dirty="0"/>
          </a:p>
        </p:txBody>
      </p:sp>
      <p:sp>
        <p:nvSpPr>
          <p:cNvPr id="9" name="Text 7"/>
          <p:cNvSpPr/>
          <p:nvPr/>
        </p:nvSpPr>
        <p:spPr>
          <a:xfrm>
            <a:off x="952373" y="2679700"/>
            <a:ext cx="2184527" cy="25400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BFE6"/>
                </a:solidFill>
                <a:latin typeface="Cairo" pitchFamily="34" charset="0"/>
                <a:ea typeface="Cairo" pitchFamily="34" charset="-122"/>
                <a:cs typeface="Cairo" pitchFamily="34" charset="-120"/>
              </a:rPr>
              <a:t>جدول بيانات</a:t>
            </a:r>
            <a:endParaRPr lang="en-US" sz="1300" dirty="0"/>
          </a:p>
        </p:txBody>
      </p:sp>
      <p:sp>
        <p:nvSpPr>
          <p:cNvPr id="10" name="Shape 8"/>
          <p:cNvSpPr/>
          <p:nvPr/>
        </p:nvSpPr>
        <p:spPr>
          <a:xfrm>
            <a:off x="3492500" y="1530350"/>
            <a:ext cx="2527300" cy="2082800"/>
          </a:xfrm>
          <a:prstGeom prst="roundRect">
            <a:avLst>
              <a:gd name="adj" fmla="val 6098"/>
            </a:avLst>
          </a:prstGeom>
          <a:solidFill>
            <a:srgbClr val="0E1745"/>
          </a:solidFill>
          <a:ln/>
        </p:spPr>
      </p:sp>
      <p:sp>
        <p:nvSpPr>
          <p:cNvPr id="11" name="Shape 9"/>
          <p:cNvSpPr/>
          <p:nvPr/>
        </p:nvSpPr>
        <p:spPr>
          <a:xfrm>
            <a:off x="3492500" y="1530350"/>
            <a:ext cx="2527300" cy="2082800"/>
          </a:xfrm>
          <a:custGeom>
            <a:avLst/>
            <a:gdLst/>
            <a:ahLst/>
            <a:cxnLst/>
            <a:rect l="l" t="t" r="r" b="b"/>
            <a:pathLst>
              <a:path w="2527300" h="2082800">
                <a:moveTo>
                  <a:pt x="0" y="127000"/>
                </a:moveTo>
                <a:lnTo>
                  <a:pt x="0" y="127000"/>
                </a:lnTo>
                <a:arcTo hR="127000" wR="127000" stAng="10800000" swAng="5400000"/>
                <a:lnTo>
                  <a:pt x="2400300" y="0"/>
                </a:lnTo>
                <a:arcTo hR="127000" wR="127000" stAng="16200000" swAng="5400000"/>
                <a:lnTo>
                  <a:pt x="2527300" y="127000"/>
                </a:lnTo>
                <a:arcTo hR="88900" wR="127000" stAng="0" swAng="-5400000"/>
                <a:lnTo>
                  <a:pt x="127000" y="38100"/>
                </a:lnTo>
                <a:arcTo hR="88900" wR="127000" stAng="16200000" swAng="-5400000"/>
                <a:close/>
              </a:path>
            </a:pathLst>
          </a:custGeom>
          <a:solidFill>
            <a:srgbClr val="22D3EE"/>
          </a:solidFill>
          <a:ln/>
        </p:spPr>
      </p:sp>
      <p:sp>
        <p:nvSpPr>
          <p:cNvPr id="12" name="Text 10"/>
          <p:cNvSpPr/>
          <p:nvPr/>
        </p:nvSpPr>
        <p:spPr>
          <a:xfrm>
            <a:off x="3695700" y="1797050"/>
            <a:ext cx="2184527" cy="558800"/>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F2F5FF"/>
                </a:solidFill>
                <a:latin typeface="Montserrat" pitchFamily="34" charset="0"/>
                <a:ea typeface="Montserrat" pitchFamily="34" charset="-122"/>
                <a:cs typeface="Montserrat" pitchFamily="34" charset="-120"/>
              </a:rPr>
              <a:t>36</a:t>
            </a:r>
            <a:endParaRPr lang="en-US" sz="4200" dirty="0"/>
          </a:p>
        </p:txBody>
      </p:sp>
      <p:sp>
        <p:nvSpPr>
          <p:cNvPr id="13" name="Text 11"/>
          <p:cNvSpPr/>
          <p:nvPr/>
        </p:nvSpPr>
        <p:spPr>
          <a:xfrm>
            <a:off x="3695700" y="2381250"/>
            <a:ext cx="2184527" cy="52070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months, Oct 2023 – Sep 2026</a:t>
            </a:r>
            <a:endParaRPr lang="en-US" sz="1400" dirty="0"/>
          </a:p>
        </p:txBody>
      </p:sp>
      <p:sp>
        <p:nvSpPr>
          <p:cNvPr id="14" name="Text 12"/>
          <p:cNvSpPr/>
          <p:nvPr/>
        </p:nvSpPr>
        <p:spPr>
          <a:xfrm>
            <a:off x="3632073" y="2927350"/>
            <a:ext cx="2184527" cy="48260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BFE6"/>
                </a:solidFill>
                <a:latin typeface="Cairo" pitchFamily="34" charset="0"/>
                <a:ea typeface="Cairo" pitchFamily="34" charset="-122"/>
                <a:cs typeface="Cairo" pitchFamily="34" charset="-120"/>
              </a:rPr>
              <a:t>شهر من أكتوبر 2023 لسبتمبر 2026</a:t>
            </a:r>
            <a:endParaRPr lang="en-US" sz="1300" dirty="0"/>
          </a:p>
        </p:txBody>
      </p:sp>
      <p:sp>
        <p:nvSpPr>
          <p:cNvPr id="15" name="Shape 13"/>
          <p:cNvSpPr/>
          <p:nvPr/>
        </p:nvSpPr>
        <p:spPr>
          <a:xfrm>
            <a:off x="6172200" y="1530350"/>
            <a:ext cx="2527300" cy="2082800"/>
          </a:xfrm>
          <a:prstGeom prst="roundRect">
            <a:avLst>
              <a:gd name="adj" fmla="val 6098"/>
            </a:avLst>
          </a:prstGeom>
          <a:solidFill>
            <a:srgbClr val="0E1745"/>
          </a:solidFill>
          <a:ln/>
        </p:spPr>
      </p:sp>
      <p:sp>
        <p:nvSpPr>
          <p:cNvPr id="16" name="Shape 14"/>
          <p:cNvSpPr/>
          <p:nvPr/>
        </p:nvSpPr>
        <p:spPr>
          <a:xfrm>
            <a:off x="6172200" y="1530350"/>
            <a:ext cx="2527300" cy="2082800"/>
          </a:xfrm>
          <a:custGeom>
            <a:avLst/>
            <a:gdLst/>
            <a:ahLst/>
            <a:cxnLst/>
            <a:rect l="l" t="t" r="r" b="b"/>
            <a:pathLst>
              <a:path w="2527300" h="2082800">
                <a:moveTo>
                  <a:pt x="0" y="127000"/>
                </a:moveTo>
                <a:lnTo>
                  <a:pt x="0" y="127000"/>
                </a:lnTo>
                <a:arcTo hR="127000" wR="127000" stAng="10800000" swAng="5400000"/>
                <a:lnTo>
                  <a:pt x="2400300" y="0"/>
                </a:lnTo>
                <a:arcTo hR="127000" wR="127000" stAng="16200000" swAng="5400000"/>
                <a:lnTo>
                  <a:pt x="2527300" y="127000"/>
                </a:lnTo>
                <a:arcTo hR="88900" wR="127000" stAng="0" swAng="-5400000"/>
                <a:lnTo>
                  <a:pt x="127000" y="38100"/>
                </a:lnTo>
                <a:arcTo hR="88900" wR="127000" stAng="16200000" swAng="-5400000"/>
                <a:close/>
              </a:path>
            </a:pathLst>
          </a:custGeom>
          <a:solidFill>
            <a:srgbClr val="FF9248"/>
          </a:solidFill>
          <a:ln/>
        </p:spPr>
      </p:sp>
      <p:sp>
        <p:nvSpPr>
          <p:cNvPr id="17" name="Text 15"/>
          <p:cNvSpPr/>
          <p:nvPr/>
        </p:nvSpPr>
        <p:spPr>
          <a:xfrm>
            <a:off x="6375400" y="1797050"/>
            <a:ext cx="2184527" cy="558800"/>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F2F5FF"/>
                </a:solidFill>
                <a:latin typeface="Montserrat" pitchFamily="34" charset="0"/>
                <a:ea typeface="Montserrat" pitchFamily="34" charset="-122"/>
                <a:cs typeface="Montserrat" pitchFamily="34" charset="-120"/>
              </a:rPr>
              <a:t>180K</a:t>
            </a:r>
            <a:endParaRPr lang="en-US" sz="4200" dirty="0"/>
          </a:p>
        </p:txBody>
      </p:sp>
      <p:sp>
        <p:nvSpPr>
          <p:cNvPr id="18" name="Text 16"/>
          <p:cNvSpPr/>
          <p:nvPr/>
        </p:nvSpPr>
        <p:spPr>
          <a:xfrm>
            <a:off x="6375400" y="2381250"/>
            <a:ext cx="2184527"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invoice lines</a:t>
            </a:r>
            <a:endParaRPr lang="en-US" sz="1400" dirty="0"/>
          </a:p>
        </p:txBody>
      </p:sp>
      <p:sp>
        <p:nvSpPr>
          <p:cNvPr id="19" name="Text 17"/>
          <p:cNvSpPr/>
          <p:nvPr/>
        </p:nvSpPr>
        <p:spPr>
          <a:xfrm>
            <a:off x="6311773" y="2679700"/>
            <a:ext cx="2184527" cy="25400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BFE6"/>
                </a:solidFill>
                <a:latin typeface="Cairo" pitchFamily="34" charset="0"/>
                <a:ea typeface="Cairo" pitchFamily="34" charset="-122"/>
                <a:cs typeface="Cairo" pitchFamily="34" charset="-120"/>
              </a:rPr>
              <a:t>سطر فاتورة</a:t>
            </a:r>
            <a:endParaRPr lang="en-US" sz="1300" dirty="0"/>
          </a:p>
        </p:txBody>
      </p:sp>
      <p:sp>
        <p:nvSpPr>
          <p:cNvPr id="20" name="Shape 18"/>
          <p:cNvSpPr/>
          <p:nvPr/>
        </p:nvSpPr>
        <p:spPr>
          <a:xfrm>
            <a:off x="8851900" y="1530350"/>
            <a:ext cx="2527300" cy="2082800"/>
          </a:xfrm>
          <a:prstGeom prst="roundRect">
            <a:avLst>
              <a:gd name="adj" fmla="val 6098"/>
            </a:avLst>
          </a:prstGeom>
          <a:solidFill>
            <a:srgbClr val="0E1745"/>
          </a:solidFill>
          <a:ln/>
        </p:spPr>
      </p:sp>
      <p:sp>
        <p:nvSpPr>
          <p:cNvPr id="21" name="Shape 19"/>
          <p:cNvSpPr/>
          <p:nvPr/>
        </p:nvSpPr>
        <p:spPr>
          <a:xfrm>
            <a:off x="8851900" y="1530350"/>
            <a:ext cx="2527300" cy="2082800"/>
          </a:xfrm>
          <a:custGeom>
            <a:avLst/>
            <a:gdLst/>
            <a:ahLst/>
            <a:cxnLst/>
            <a:rect l="l" t="t" r="r" b="b"/>
            <a:pathLst>
              <a:path w="2527300" h="2082800">
                <a:moveTo>
                  <a:pt x="0" y="127000"/>
                </a:moveTo>
                <a:lnTo>
                  <a:pt x="0" y="127000"/>
                </a:lnTo>
                <a:arcTo hR="127000" wR="127000" stAng="10800000" swAng="5400000"/>
                <a:lnTo>
                  <a:pt x="2400300" y="0"/>
                </a:lnTo>
                <a:arcTo hR="127000" wR="127000" stAng="16200000" swAng="5400000"/>
                <a:lnTo>
                  <a:pt x="2527300" y="127000"/>
                </a:lnTo>
                <a:arcTo hR="88900" wR="127000" stAng="0" swAng="-5400000"/>
                <a:lnTo>
                  <a:pt x="127000" y="38100"/>
                </a:lnTo>
                <a:arcTo hR="88900" wR="127000" stAng="16200000" swAng="-5400000"/>
                <a:close/>
              </a:path>
            </a:pathLst>
          </a:custGeom>
          <a:solidFill>
            <a:srgbClr val="2DD4BF"/>
          </a:solidFill>
          <a:ln/>
        </p:spPr>
      </p:sp>
      <p:sp>
        <p:nvSpPr>
          <p:cNvPr id="22" name="Text 20"/>
          <p:cNvSpPr/>
          <p:nvPr/>
        </p:nvSpPr>
        <p:spPr>
          <a:xfrm>
            <a:off x="9055100" y="1797050"/>
            <a:ext cx="2184527" cy="558800"/>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F2F5FF"/>
                </a:solidFill>
                <a:latin typeface="Montserrat" pitchFamily="34" charset="0"/>
                <a:ea typeface="Montserrat" pitchFamily="34" charset="-122"/>
                <a:cs typeface="Montserrat" pitchFamily="34" charset="-120"/>
              </a:rPr>
              <a:t>421M</a:t>
            </a:r>
            <a:endParaRPr lang="en-US" sz="4200" dirty="0"/>
          </a:p>
        </p:txBody>
      </p:sp>
      <p:sp>
        <p:nvSpPr>
          <p:cNvPr id="23" name="Text 21"/>
          <p:cNvSpPr/>
          <p:nvPr/>
        </p:nvSpPr>
        <p:spPr>
          <a:xfrm>
            <a:off x="9055100" y="2381250"/>
            <a:ext cx="2324100"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EGP net sales, 3 fiscal years</a:t>
            </a:r>
            <a:endParaRPr lang="en-US" sz="1400" dirty="0"/>
          </a:p>
        </p:txBody>
      </p:sp>
      <p:sp>
        <p:nvSpPr>
          <p:cNvPr id="24" name="Text 22"/>
          <p:cNvSpPr/>
          <p:nvPr/>
        </p:nvSpPr>
        <p:spPr>
          <a:xfrm>
            <a:off x="8991473" y="2679700"/>
            <a:ext cx="2184527" cy="25400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BFE6"/>
                </a:solidFill>
                <a:latin typeface="Cairo" pitchFamily="34" charset="0"/>
                <a:ea typeface="Cairo" pitchFamily="34" charset="-122"/>
                <a:cs typeface="Cairo" pitchFamily="34" charset="-120"/>
              </a:rPr>
              <a:t>جنيه صافي مبيعات في 3 سنين</a:t>
            </a:r>
            <a:endParaRPr lang="en-US" sz="1300" dirty="0"/>
          </a:p>
        </p:txBody>
      </p:sp>
      <p:sp>
        <p:nvSpPr>
          <p:cNvPr id="25" name="Shape 23"/>
          <p:cNvSpPr/>
          <p:nvPr/>
        </p:nvSpPr>
        <p:spPr>
          <a:xfrm>
            <a:off x="812800" y="3867150"/>
            <a:ext cx="5207000" cy="1308100"/>
          </a:xfrm>
          <a:prstGeom prst="roundRect">
            <a:avLst>
              <a:gd name="adj" fmla="val 7767"/>
            </a:avLst>
          </a:prstGeom>
          <a:solidFill>
            <a:srgbClr val="0E1745"/>
          </a:solidFill>
          <a:ln/>
        </p:spPr>
      </p:sp>
      <p:sp>
        <p:nvSpPr>
          <p:cNvPr id="26" name="Shape 24"/>
          <p:cNvSpPr/>
          <p:nvPr/>
        </p:nvSpPr>
        <p:spPr>
          <a:xfrm>
            <a:off x="812800" y="3867150"/>
            <a:ext cx="5207000" cy="1308100"/>
          </a:xfrm>
          <a:custGeom>
            <a:avLst/>
            <a:gdLst/>
            <a:ahLst/>
            <a:cxnLst/>
            <a:rect l="l" t="t" r="r" b="b"/>
            <a:pathLst>
              <a:path w="5207000" h="1308100">
                <a:moveTo>
                  <a:pt x="101600" y="1308100"/>
                </a:moveTo>
                <a:lnTo>
                  <a:pt x="101600" y="1308100"/>
                </a:lnTo>
                <a:arcTo hR="101600" wR="101600" stAng="5400000" swAng="5400000"/>
                <a:lnTo>
                  <a:pt x="0" y="101600"/>
                </a:lnTo>
                <a:arcTo hR="101600" wR="101600" stAng="10800000" swAng="5400000"/>
                <a:lnTo>
                  <a:pt x="101600" y="0"/>
                </a:lnTo>
                <a:arcTo hR="101600" wR="50800" stAng="16200000" swAng="-5400000"/>
                <a:lnTo>
                  <a:pt x="50800" y="1206500"/>
                </a:lnTo>
                <a:arcTo hR="101600" wR="50800" stAng="10800000" swAng="-5400000"/>
                <a:close/>
              </a:path>
            </a:pathLst>
          </a:custGeom>
          <a:solidFill>
            <a:srgbClr val="FF9248"/>
          </a:solidFill>
          <a:ln/>
        </p:spPr>
      </p:sp>
      <p:sp>
        <p:nvSpPr>
          <p:cNvPr id="27" name="Text 25"/>
          <p:cNvSpPr/>
          <p:nvPr/>
        </p:nvSpPr>
        <p:spPr>
          <a:xfrm>
            <a:off x="1041400" y="4019550"/>
            <a:ext cx="4944618" cy="48260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5FF"/>
                </a:solidFill>
                <a:latin typeface="Cairo" pitchFamily="34" charset="0"/>
                <a:ea typeface="Cairo" pitchFamily="34" charset="-122"/>
                <a:cs typeface="Cairo" pitchFamily="34" charset="-120"/>
              </a:rPr>
              <a:t>From raw materials to customers: suppliers, factory, printing, stock, wholesale, online, retail, marketing</a:t>
            </a:r>
            <a:endParaRPr lang="en-US" sz="1400" dirty="0"/>
          </a:p>
        </p:txBody>
      </p:sp>
      <p:sp>
        <p:nvSpPr>
          <p:cNvPr id="28" name="Text 26"/>
          <p:cNvSpPr/>
          <p:nvPr/>
        </p:nvSpPr>
        <p:spPr>
          <a:xfrm>
            <a:off x="897382" y="4527550"/>
            <a:ext cx="4944618" cy="52070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B4BFE6"/>
                </a:solidFill>
                <a:latin typeface="Cairo" pitchFamily="34" charset="0"/>
                <a:ea typeface="Cairo" pitchFamily="34" charset="-122"/>
                <a:cs typeface="Cairo" pitchFamily="34" charset="-120"/>
              </a:rPr>
              <a:t>من الخامات للعميل: موردين ومصنع وطباعة ومخزون وجملة وأونلاين وتجزئة وتسويق</a:t>
            </a:r>
            <a:endParaRPr lang="en-US" sz="1300" dirty="0"/>
          </a:p>
        </p:txBody>
      </p:sp>
      <p:sp>
        <p:nvSpPr>
          <p:cNvPr id="29" name="Shape 27"/>
          <p:cNvSpPr/>
          <p:nvPr/>
        </p:nvSpPr>
        <p:spPr>
          <a:xfrm>
            <a:off x="6172200" y="3867150"/>
            <a:ext cx="5207000" cy="1308100"/>
          </a:xfrm>
          <a:prstGeom prst="roundRect">
            <a:avLst>
              <a:gd name="adj" fmla="val 7767"/>
            </a:avLst>
          </a:prstGeom>
          <a:solidFill>
            <a:srgbClr val="0E1745"/>
          </a:solidFill>
          <a:ln/>
        </p:spPr>
      </p:sp>
      <p:sp>
        <p:nvSpPr>
          <p:cNvPr id="30" name="Shape 28"/>
          <p:cNvSpPr/>
          <p:nvPr/>
        </p:nvSpPr>
        <p:spPr>
          <a:xfrm>
            <a:off x="6172200" y="3867150"/>
            <a:ext cx="5207000" cy="1308100"/>
          </a:xfrm>
          <a:custGeom>
            <a:avLst/>
            <a:gdLst/>
            <a:ahLst/>
            <a:cxnLst/>
            <a:rect l="l" t="t" r="r" b="b"/>
            <a:pathLst>
              <a:path w="5207000" h="1308100">
                <a:moveTo>
                  <a:pt x="101600" y="1308100"/>
                </a:moveTo>
                <a:lnTo>
                  <a:pt x="101600" y="1308100"/>
                </a:lnTo>
                <a:arcTo hR="101600" wR="101600" stAng="5400000" swAng="5400000"/>
                <a:lnTo>
                  <a:pt x="0" y="101600"/>
                </a:lnTo>
                <a:arcTo hR="101600" wR="101600" stAng="10800000" swAng="5400000"/>
                <a:lnTo>
                  <a:pt x="101600" y="0"/>
                </a:lnTo>
                <a:arcTo hR="101600" wR="50800" stAng="16200000" swAng="-5400000"/>
                <a:lnTo>
                  <a:pt x="50800" y="1206500"/>
                </a:lnTo>
                <a:arcTo hR="101600" wR="50800" stAng="10800000" swAng="-5400000"/>
                <a:close/>
              </a:path>
            </a:pathLst>
          </a:custGeom>
          <a:solidFill>
            <a:srgbClr val="FF4D5E"/>
          </a:solidFill>
          <a:ln/>
        </p:spPr>
      </p:sp>
      <p:sp>
        <p:nvSpPr>
          <p:cNvPr id="31" name="Text 29"/>
          <p:cNvSpPr/>
          <p:nvPr/>
        </p:nvSpPr>
        <p:spPr>
          <a:xfrm>
            <a:off x="6400800" y="4019550"/>
            <a:ext cx="4944618" cy="48260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2F5FF"/>
                </a:solidFill>
                <a:latin typeface="Cairo" pitchFamily="34" charset="0"/>
                <a:ea typeface="Cairo" pitchFamily="34" charset="-122"/>
                <a:cs typeface="Cairo" pitchFamily="34" charset="-120"/>
              </a:rPr>
              <a:t>Most tables are modeled training data: read the findings as method, not as company fact</a:t>
            </a:r>
            <a:endParaRPr lang="en-US" sz="1400" dirty="0"/>
          </a:p>
        </p:txBody>
      </p:sp>
      <p:sp>
        <p:nvSpPr>
          <p:cNvPr id="32" name="Text 30"/>
          <p:cNvSpPr/>
          <p:nvPr/>
        </p:nvSpPr>
        <p:spPr>
          <a:xfrm>
            <a:off x="6256782" y="4527550"/>
            <a:ext cx="4944618" cy="52070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B4BFE6"/>
                </a:solidFill>
                <a:latin typeface="Cairo" pitchFamily="34" charset="0"/>
                <a:ea typeface="Cairo" pitchFamily="34" charset="-122"/>
                <a:cs typeface="Cairo" pitchFamily="34" charset="-120"/>
              </a:rPr>
              <a:t>أغلب الجداول بيانات تدريب متولّدة، فاعتبر النتايج منهج تحليل مش حقايق الشركة</a:t>
            </a:r>
            <a:endParaRPr lang="en-US" sz="1300" dirty="0"/>
          </a:p>
        </p:txBody>
      </p:sp>
      <p:sp>
        <p:nvSpPr>
          <p:cNvPr id="33" name="Text 31"/>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7168388"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02 · THE BIG PICTURE</a:t>
            </a:r>
            <a:endParaRPr lang="en-US" sz="1200" dirty="0"/>
          </a:p>
        </p:txBody>
      </p:sp>
      <p:sp>
        <p:nvSpPr>
          <p:cNvPr id="3" name="Text 1"/>
          <p:cNvSpPr/>
          <p:nvPr>
            <p:ph type="title"/>
          </p:nvPr>
        </p:nvSpPr>
        <p:spPr>
          <a:xfrm>
            <a:off x="812800" y="857250"/>
            <a:ext cx="7168388"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85% of sales earn the lowest margin</a:t>
            </a:r>
            <a:endParaRPr lang="en-US" sz="3000" dirty="0"/>
          </a:p>
        </p:txBody>
      </p:sp>
      <p:sp>
        <p:nvSpPr>
          <p:cNvPr id="4" name="Text 2"/>
          <p:cNvSpPr/>
          <p:nvPr/>
        </p:nvSpPr>
        <p:spPr>
          <a:xfrm>
            <a:off x="7978140" y="1403350"/>
            <a:ext cx="340106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85% من المبيعات بأقل هامش</a:t>
            </a:r>
            <a:endParaRPr lang="en-US" sz="1800" dirty="0"/>
          </a:p>
        </p:txBody>
      </p:sp>
      <p:sp>
        <p:nvSpPr>
          <p:cNvPr id="5" name="Text 3"/>
          <p:cNvSpPr/>
          <p:nvPr/>
        </p:nvSpPr>
        <p:spPr>
          <a:xfrm>
            <a:off x="812800" y="1924050"/>
            <a:ext cx="6069584"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BFE6"/>
                </a:solidFill>
                <a:latin typeface="Cairo" pitchFamily="34" charset="0"/>
                <a:ea typeface="Cairo" pitchFamily="34" charset="-122"/>
                <a:cs typeface="Cairo" pitchFamily="34" charset="-120"/>
              </a:rPr>
              <a:t>Gross margin by channel, FY26</a:t>
            </a:r>
            <a:endParaRPr lang="en-US" sz="1400" dirty="0"/>
          </a:p>
        </p:txBody>
      </p:sp>
      <p:sp>
        <p:nvSpPr>
          <p:cNvPr id="6" name="Text 4"/>
          <p:cNvSpPr/>
          <p:nvPr/>
        </p:nvSpPr>
        <p:spPr>
          <a:xfrm>
            <a:off x="812800" y="2311400"/>
            <a:ext cx="2242780"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Wholesale · EGP 125.4M</a:t>
            </a:r>
            <a:endParaRPr lang="en-US" sz="1400" dirty="0"/>
          </a:p>
        </p:txBody>
      </p:sp>
      <p:sp>
        <p:nvSpPr>
          <p:cNvPr id="7" name="Text 5"/>
          <p:cNvSpPr/>
          <p:nvPr/>
        </p:nvSpPr>
        <p:spPr>
          <a:xfrm>
            <a:off x="6169700" y="2311400"/>
            <a:ext cx="535900" cy="27305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F8791"/>
                </a:solidFill>
                <a:latin typeface="Cairo" pitchFamily="34" charset="0"/>
                <a:ea typeface="Cairo" pitchFamily="34" charset="-122"/>
                <a:cs typeface="Cairo" pitchFamily="34" charset="-120"/>
              </a:rPr>
              <a:t>11.9%</a:t>
            </a:r>
            <a:endParaRPr lang="en-US" sz="1400" dirty="0"/>
          </a:p>
        </p:txBody>
      </p:sp>
      <p:sp>
        <p:nvSpPr>
          <p:cNvPr id="8" name="Shape 6"/>
          <p:cNvSpPr/>
          <p:nvPr/>
        </p:nvSpPr>
        <p:spPr>
          <a:xfrm>
            <a:off x="812800" y="2609850"/>
            <a:ext cx="5892800" cy="190500"/>
          </a:xfrm>
          <a:prstGeom prst="roundRect">
            <a:avLst>
              <a:gd name="adj" fmla="val 50000"/>
            </a:avLst>
          </a:prstGeom>
          <a:solidFill>
            <a:srgbClr val="1B2766"/>
          </a:solidFill>
          <a:ln/>
        </p:spPr>
      </p:sp>
      <p:sp>
        <p:nvSpPr>
          <p:cNvPr id="9" name="Shape 7"/>
          <p:cNvSpPr/>
          <p:nvPr/>
        </p:nvSpPr>
        <p:spPr>
          <a:xfrm>
            <a:off x="812800" y="2609850"/>
            <a:ext cx="5892800" cy="190500"/>
          </a:xfrm>
          <a:prstGeom prst="roundRect">
            <a:avLst>
              <a:gd name="adj" fmla="val 50000"/>
            </a:avLst>
          </a:prstGeom>
          <a:solidFill>
            <a:srgbClr val="FF4D5E"/>
          </a:solidFill>
          <a:ln/>
        </p:spPr>
      </p:sp>
      <p:sp>
        <p:nvSpPr>
          <p:cNvPr id="10" name="Text 8"/>
          <p:cNvSpPr/>
          <p:nvPr/>
        </p:nvSpPr>
        <p:spPr>
          <a:xfrm>
            <a:off x="812800" y="2940050"/>
            <a:ext cx="1750338"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Online · EGP 13.5M</a:t>
            </a:r>
            <a:endParaRPr lang="en-US" sz="1400" dirty="0"/>
          </a:p>
        </p:txBody>
      </p:sp>
      <p:sp>
        <p:nvSpPr>
          <p:cNvPr id="11" name="Text 9"/>
          <p:cNvSpPr/>
          <p:nvPr/>
        </p:nvSpPr>
        <p:spPr>
          <a:xfrm>
            <a:off x="6169700" y="2940050"/>
            <a:ext cx="535900" cy="27305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DD4BF"/>
                </a:solidFill>
                <a:latin typeface="Cairo" pitchFamily="34" charset="0"/>
                <a:ea typeface="Cairo" pitchFamily="34" charset="-122"/>
                <a:cs typeface="Cairo" pitchFamily="34" charset="-120"/>
              </a:rPr>
              <a:t>34.5%</a:t>
            </a:r>
            <a:endParaRPr lang="en-US" sz="1400" dirty="0"/>
          </a:p>
        </p:txBody>
      </p:sp>
      <p:sp>
        <p:nvSpPr>
          <p:cNvPr id="12" name="Shape 10"/>
          <p:cNvSpPr/>
          <p:nvPr/>
        </p:nvSpPr>
        <p:spPr>
          <a:xfrm>
            <a:off x="812800" y="3238500"/>
            <a:ext cx="5892800" cy="190500"/>
          </a:xfrm>
          <a:prstGeom prst="roundRect">
            <a:avLst>
              <a:gd name="adj" fmla="val 50000"/>
            </a:avLst>
          </a:prstGeom>
          <a:solidFill>
            <a:srgbClr val="1B2766"/>
          </a:solidFill>
          <a:ln/>
        </p:spPr>
      </p:sp>
      <p:sp>
        <p:nvSpPr>
          <p:cNvPr id="13" name="Shape 11"/>
          <p:cNvSpPr/>
          <p:nvPr/>
        </p:nvSpPr>
        <p:spPr>
          <a:xfrm>
            <a:off x="812800" y="3238500"/>
            <a:ext cx="5892800" cy="190500"/>
          </a:xfrm>
          <a:prstGeom prst="roundRect">
            <a:avLst>
              <a:gd name="adj" fmla="val 50000"/>
            </a:avLst>
          </a:prstGeom>
          <a:solidFill>
            <a:srgbClr val="2DD4BF"/>
          </a:solidFill>
          <a:ln/>
        </p:spPr>
      </p:sp>
      <p:sp>
        <p:nvSpPr>
          <p:cNvPr id="14" name="Text 12"/>
          <p:cNvSpPr/>
          <p:nvPr/>
        </p:nvSpPr>
        <p:spPr>
          <a:xfrm>
            <a:off x="812800" y="3568700"/>
            <a:ext cx="157210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Retail · EGP 9.4M</a:t>
            </a:r>
            <a:endParaRPr lang="en-US" sz="1400" dirty="0"/>
          </a:p>
        </p:txBody>
      </p:sp>
      <p:sp>
        <p:nvSpPr>
          <p:cNvPr id="15" name="Text 13"/>
          <p:cNvSpPr/>
          <p:nvPr/>
        </p:nvSpPr>
        <p:spPr>
          <a:xfrm>
            <a:off x="6169700" y="3568700"/>
            <a:ext cx="535900" cy="27305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DD4BF"/>
                </a:solidFill>
                <a:latin typeface="Cairo" pitchFamily="34" charset="0"/>
                <a:ea typeface="Cairo" pitchFamily="34" charset="-122"/>
                <a:cs typeface="Cairo" pitchFamily="34" charset="-120"/>
              </a:rPr>
              <a:t>37.1%</a:t>
            </a:r>
            <a:endParaRPr lang="en-US" sz="1400" dirty="0"/>
          </a:p>
        </p:txBody>
      </p:sp>
      <p:sp>
        <p:nvSpPr>
          <p:cNvPr id="16" name="Shape 14"/>
          <p:cNvSpPr/>
          <p:nvPr/>
        </p:nvSpPr>
        <p:spPr>
          <a:xfrm>
            <a:off x="812800" y="3867150"/>
            <a:ext cx="5892800" cy="190500"/>
          </a:xfrm>
          <a:prstGeom prst="roundRect">
            <a:avLst>
              <a:gd name="adj" fmla="val 50000"/>
            </a:avLst>
          </a:prstGeom>
          <a:solidFill>
            <a:srgbClr val="1B2766"/>
          </a:solidFill>
          <a:ln/>
        </p:spPr>
      </p:sp>
      <p:sp>
        <p:nvSpPr>
          <p:cNvPr id="17" name="Shape 15"/>
          <p:cNvSpPr/>
          <p:nvPr/>
        </p:nvSpPr>
        <p:spPr>
          <a:xfrm>
            <a:off x="812800" y="3867150"/>
            <a:ext cx="5892800" cy="190500"/>
          </a:xfrm>
          <a:prstGeom prst="roundRect">
            <a:avLst>
              <a:gd name="adj" fmla="val 50000"/>
            </a:avLst>
          </a:prstGeom>
          <a:solidFill>
            <a:srgbClr val="2DD4BF"/>
          </a:solidFill>
          <a:ln/>
        </p:spPr>
      </p:sp>
      <p:sp>
        <p:nvSpPr>
          <p:cNvPr id="18" name="Text 16"/>
          <p:cNvSpPr/>
          <p:nvPr/>
        </p:nvSpPr>
        <p:spPr>
          <a:xfrm>
            <a:off x="636016" y="4197350"/>
            <a:ext cx="6069584" cy="27305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B4BFE6"/>
                </a:solidFill>
                <a:latin typeface="Cairo" pitchFamily="34" charset="0"/>
                <a:ea typeface="Cairo" pitchFamily="34" charset="-122"/>
                <a:cs typeface="Cairo" pitchFamily="34" charset="-120"/>
              </a:rPr>
              <a:t>هامش الجملة 11.9% والأونلاين 34.5% والتجزئة 37.1%</a:t>
            </a:r>
            <a:endParaRPr lang="en-US" sz="1300" dirty="0"/>
          </a:p>
        </p:txBody>
      </p:sp>
      <p:sp>
        <p:nvSpPr>
          <p:cNvPr id="19" name="Shape 17"/>
          <p:cNvSpPr/>
          <p:nvPr/>
        </p:nvSpPr>
        <p:spPr>
          <a:xfrm>
            <a:off x="7061200" y="1924050"/>
            <a:ext cx="4318000" cy="730250"/>
          </a:xfrm>
          <a:prstGeom prst="roundRect">
            <a:avLst>
              <a:gd name="adj" fmla="val 13913"/>
            </a:avLst>
          </a:prstGeom>
          <a:solidFill>
            <a:srgbClr val="0E1745"/>
          </a:solidFill>
          <a:ln/>
        </p:spPr>
      </p:sp>
      <p:sp>
        <p:nvSpPr>
          <p:cNvPr id="20" name="Shape 18"/>
          <p:cNvSpPr/>
          <p:nvPr/>
        </p:nvSpPr>
        <p:spPr>
          <a:xfrm>
            <a:off x="7061200" y="1924050"/>
            <a:ext cx="4318000" cy="730250"/>
          </a:xfrm>
          <a:custGeom>
            <a:avLst/>
            <a:gdLst/>
            <a:ahLst/>
            <a:cxnLst/>
            <a:rect l="l" t="t" r="r" b="b"/>
            <a:pathLst>
              <a:path w="4318000" h="730250">
                <a:moveTo>
                  <a:pt x="101600" y="730250"/>
                </a:moveTo>
                <a:lnTo>
                  <a:pt x="101600" y="730250"/>
                </a:lnTo>
                <a:arcTo hR="101600" wR="101600" stAng="5400000" swAng="5400000"/>
                <a:lnTo>
                  <a:pt x="0" y="101600"/>
                </a:lnTo>
                <a:arcTo hR="101600" wR="101600" stAng="10800000" swAng="5400000"/>
                <a:lnTo>
                  <a:pt x="101600" y="0"/>
                </a:lnTo>
                <a:arcTo hR="101600" wR="50800" stAng="16200000" swAng="-5400000"/>
                <a:lnTo>
                  <a:pt x="50800" y="628650"/>
                </a:lnTo>
                <a:arcTo hR="101600" wR="50800" stAng="10800000" swAng="-5400000"/>
                <a:close/>
              </a:path>
            </a:pathLst>
          </a:custGeom>
          <a:solidFill>
            <a:srgbClr val="5B8CFF"/>
          </a:solidFill>
          <a:ln/>
        </p:spPr>
      </p:sp>
      <p:sp>
        <p:nvSpPr>
          <p:cNvPr id="21" name="Text 19"/>
          <p:cNvSpPr/>
          <p:nvPr/>
        </p:nvSpPr>
        <p:spPr>
          <a:xfrm>
            <a:off x="7289800" y="2051050"/>
            <a:ext cx="40894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FY26 sales EGP 148.3M, up 3.3%, at 15.6% gross margin</a:t>
            </a:r>
            <a:endParaRPr lang="en-US" sz="1300" dirty="0"/>
          </a:p>
        </p:txBody>
      </p:sp>
      <p:sp>
        <p:nvSpPr>
          <p:cNvPr id="22" name="Text 20"/>
          <p:cNvSpPr/>
          <p:nvPr/>
        </p:nvSpPr>
        <p:spPr>
          <a:xfrm>
            <a:off x="7112000" y="2298700"/>
            <a:ext cx="40894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مبيعات 26 بلغت 148.3 مليون جنيه بزيادة 3.3% وهامش 15.6%</a:t>
            </a:r>
            <a:endParaRPr lang="en-US" sz="1200" dirty="0"/>
          </a:p>
        </p:txBody>
      </p:sp>
      <p:sp>
        <p:nvSpPr>
          <p:cNvPr id="23" name="Shape 21"/>
          <p:cNvSpPr/>
          <p:nvPr/>
        </p:nvSpPr>
        <p:spPr>
          <a:xfrm>
            <a:off x="7061200" y="2755900"/>
            <a:ext cx="4318000" cy="730250"/>
          </a:xfrm>
          <a:prstGeom prst="roundRect">
            <a:avLst>
              <a:gd name="adj" fmla="val 13913"/>
            </a:avLst>
          </a:prstGeom>
          <a:solidFill>
            <a:srgbClr val="0E1745"/>
          </a:solidFill>
          <a:ln/>
        </p:spPr>
      </p:sp>
      <p:sp>
        <p:nvSpPr>
          <p:cNvPr id="24" name="Shape 22"/>
          <p:cNvSpPr/>
          <p:nvPr/>
        </p:nvSpPr>
        <p:spPr>
          <a:xfrm>
            <a:off x="7061200" y="2755900"/>
            <a:ext cx="4318000" cy="730250"/>
          </a:xfrm>
          <a:custGeom>
            <a:avLst/>
            <a:gdLst/>
            <a:ahLst/>
            <a:cxnLst/>
            <a:rect l="l" t="t" r="r" b="b"/>
            <a:pathLst>
              <a:path w="4318000" h="730250">
                <a:moveTo>
                  <a:pt x="101600" y="730250"/>
                </a:moveTo>
                <a:lnTo>
                  <a:pt x="101600" y="730250"/>
                </a:lnTo>
                <a:arcTo hR="101600" wR="101600" stAng="5400000" swAng="5400000"/>
                <a:lnTo>
                  <a:pt x="0" y="101600"/>
                </a:lnTo>
                <a:arcTo hR="101600" wR="101600" stAng="10800000" swAng="5400000"/>
                <a:lnTo>
                  <a:pt x="101600" y="0"/>
                </a:lnTo>
                <a:arcTo hR="101600" wR="50800" stAng="16200000" swAng="-5400000"/>
                <a:lnTo>
                  <a:pt x="50800" y="628650"/>
                </a:lnTo>
                <a:arcTo hR="101600" wR="50800" stAng="10800000" swAng="-5400000"/>
                <a:close/>
              </a:path>
            </a:pathLst>
          </a:custGeom>
          <a:solidFill>
            <a:srgbClr val="2DD4BF"/>
          </a:solidFill>
          <a:ln/>
        </p:spPr>
      </p:sp>
      <p:sp>
        <p:nvSpPr>
          <p:cNvPr id="25" name="Text 23"/>
          <p:cNvSpPr/>
          <p:nvPr/>
        </p:nvSpPr>
        <p:spPr>
          <a:xfrm>
            <a:off x="7289800" y="2882900"/>
            <a:ext cx="4028948"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Online grew 26.1%; retail fell 6.8%</a:t>
            </a:r>
            <a:endParaRPr lang="en-US" sz="1300" dirty="0"/>
          </a:p>
        </p:txBody>
      </p:sp>
      <p:sp>
        <p:nvSpPr>
          <p:cNvPr id="26" name="Text 24"/>
          <p:cNvSpPr/>
          <p:nvPr/>
        </p:nvSpPr>
        <p:spPr>
          <a:xfrm>
            <a:off x="7172452" y="3130550"/>
            <a:ext cx="4028948"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الأونلاين زاد 26.1% والتجزئة نزلت 6.8%</a:t>
            </a:r>
            <a:endParaRPr lang="en-US" sz="1200" dirty="0"/>
          </a:p>
        </p:txBody>
      </p:sp>
      <p:sp>
        <p:nvSpPr>
          <p:cNvPr id="27" name="Shape 25"/>
          <p:cNvSpPr/>
          <p:nvPr/>
        </p:nvSpPr>
        <p:spPr>
          <a:xfrm>
            <a:off x="7061200" y="3587750"/>
            <a:ext cx="4318000" cy="730250"/>
          </a:xfrm>
          <a:prstGeom prst="roundRect">
            <a:avLst>
              <a:gd name="adj" fmla="val 13913"/>
            </a:avLst>
          </a:prstGeom>
          <a:solidFill>
            <a:srgbClr val="0E1745"/>
          </a:solidFill>
          <a:ln/>
        </p:spPr>
      </p:sp>
      <p:sp>
        <p:nvSpPr>
          <p:cNvPr id="28" name="Shape 26"/>
          <p:cNvSpPr/>
          <p:nvPr/>
        </p:nvSpPr>
        <p:spPr>
          <a:xfrm>
            <a:off x="7061200" y="3587750"/>
            <a:ext cx="4318000" cy="730250"/>
          </a:xfrm>
          <a:custGeom>
            <a:avLst/>
            <a:gdLst/>
            <a:ahLst/>
            <a:cxnLst/>
            <a:rect l="l" t="t" r="r" b="b"/>
            <a:pathLst>
              <a:path w="4318000" h="730250">
                <a:moveTo>
                  <a:pt x="101600" y="730250"/>
                </a:moveTo>
                <a:lnTo>
                  <a:pt x="101600" y="730250"/>
                </a:lnTo>
                <a:arcTo hR="101600" wR="101600" stAng="5400000" swAng="5400000"/>
                <a:lnTo>
                  <a:pt x="0" y="101600"/>
                </a:lnTo>
                <a:arcTo hR="101600" wR="101600" stAng="10800000" swAng="5400000"/>
                <a:lnTo>
                  <a:pt x="101600" y="0"/>
                </a:lnTo>
                <a:arcTo hR="101600" wR="50800" stAng="16200000" swAng="-5400000"/>
                <a:lnTo>
                  <a:pt x="50800" y="628650"/>
                </a:lnTo>
                <a:arcTo hR="101600" wR="50800" stAng="10800000" swAng="-5400000"/>
                <a:close/>
              </a:path>
            </a:pathLst>
          </a:custGeom>
          <a:solidFill>
            <a:srgbClr val="FF9248"/>
          </a:solidFill>
          <a:ln/>
        </p:spPr>
      </p:sp>
      <p:sp>
        <p:nvSpPr>
          <p:cNvPr id="29" name="Text 27"/>
          <p:cNvSpPr/>
          <p:nvPr/>
        </p:nvSpPr>
        <p:spPr>
          <a:xfrm>
            <a:off x="7289800" y="3714750"/>
            <a:ext cx="4028948"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Small price moves in wholesale move total profit</a:t>
            </a:r>
            <a:endParaRPr lang="en-US" sz="1300" dirty="0"/>
          </a:p>
        </p:txBody>
      </p:sp>
      <p:sp>
        <p:nvSpPr>
          <p:cNvPr id="30" name="Text 28"/>
          <p:cNvSpPr/>
          <p:nvPr/>
        </p:nvSpPr>
        <p:spPr>
          <a:xfrm>
            <a:off x="7172452" y="3962400"/>
            <a:ext cx="4028948"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أي تغيير بسيط في سعر الجملة بيحرّك الربح الكلي</a:t>
            </a:r>
            <a:endParaRPr lang="en-US" sz="1200" dirty="0"/>
          </a:p>
        </p:txBody>
      </p:sp>
      <p:sp>
        <p:nvSpPr>
          <p:cNvPr id="31" name="Text 29"/>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5310784"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03 · METHOD</a:t>
            </a:r>
            <a:endParaRPr lang="en-US" sz="1200" dirty="0"/>
          </a:p>
        </p:txBody>
      </p:sp>
      <p:sp>
        <p:nvSpPr>
          <p:cNvPr id="3" name="Text 1"/>
          <p:cNvSpPr/>
          <p:nvPr>
            <p:ph type="title"/>
          </p:nvPr>
        </p:nvSpPr>
        <p:spPr>
          <a:xfrm>
            <a:off x="812800" y="857250"/>
            <a:ext cx="6187321"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How we got the numbers</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إزاي وصلنا للأرقام</a:t>
            </a:r>
            <a:endParaRPr lang="en-US" sz="1800" dirty="0"/>
          </a:p>
        </p:txBody>
      </p:sp>
      <p:sp>
        <p:nvSpPr>
          <p:cNvPr id="5" name="Shape 3"/>
          <p:cNvSpPr/>
          <p:nvPr/>
        </p:nvSpPr>
        <p:spPr>
          <a:xfrm>
            <a:off x="812800" y="1479550"/>
            <a:ext cx="3437434" cy="1530350"/>
          </a:xfrm>
          <a:prstGeom prst="roundRect">
            <a:avLst>
              <a:gd name="adj" fmla="val 6639"/>
            </a:avLst>
          </a:prstGeom>
          <a:solidFill>
            <a:srgbClr val="0E1745"/>
          </a:solidFill>
          <a:ln/>
        </p:spPr>
      </p:sp>
      <p:sp>
        <p:nvSpPr>
          <p:cNvPr id="6" name="Shape 4"/>
          <p:cNvSpPr/>
          <p:nvPr/>
        </p:nvSpPr>
        <p:spPr>
          <a:xfrm>
            <a:off x="812800" y="1479550"/>
            <a:ext cx="3437434" cy="1530350"/>
          </a:xfrm>
          <a:custGeom>
            <a:avLst/>
            <a:gdLst/>
            <a:ahLst/>
            <a:cxnLst/>
            <a:rect l="l" t="t" r="r" b="b"/>
            <a:pathLst>
              <a:path w="3437434" h="1530350">
                <a:moveTo>
                  <a:pt x="0" y="101600"/>
                </a:moveTo>
                <a:lnTo>
                  <a:pt x="0" y="101600"/>
                </a:lnTo>
                <a:arcTo hR="101600" wR="101600" stAng="10800000" swAng="5400000"/>
                <a:lnTo>
                  <a:pt x="3335834" y="0"/>
                </a:lnTo>
                <a:arcTo hR="101600" wR="101600" stAng="16200000" swAng="5400000"/>
                <a:lnTo>
                  <a:pt x="3437434" y="101600"/>
                </a:lnTo>
                <a:arcTo hR="63500" wR="101600" stAng="0" swAng="-5400000"/>
                <a:lnTo>
                  <a:pt x="101600" y="38100"/>
                </a:lnTo>
                <a:arcTo hR="63500" wR="101600" stAng="16200000" swAng="-5400000"/>
                <a:close/>
              </a:path>
            </a:pathLst>
          </a:custGeom>
          <a:solidFill>
            <a:srgbClr val="5B8CFF"/>
          </a:solidFill>
          <a:ln/>
        </p:spPr>
      </p:sp>
      <p:sp>
        <p:nvSpPr>
          <p:cNvPr id="7" name="Text 5"/>
          <p:cNvSpPr/>
          <p:nvPr/>
        </p:nvSpPr>
        <p:spPr>
          <a:xfrm>
            <a:off x="977900" y="1657350"/>
            <a:ext cx="320045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Forecast</a:t>
            </a:r>
            <a:endParaRPr lang="en-US" sz="1400" dirty="0"/>
          </a:p>
        </p:txBody>
      </p:sp>
      <p:sp>
        <p:nvSpPr>
          <p:cNvPr id="8" name="Text 6"/>
          <p:cNvSpPr/>
          <p:nvPr/>
        </p:nvSpPr>
        <p:spPr>
          <a:xfrm>
            <a:off x="977900" y="1955800"/>
            <a:ext cx="3200451"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Gradient boosting on 177 product-channel series, tested on 3 unseen months</a:t>
            </a:r>
            <a:endParaRPr lang="en-US" sz="1200" dirty="0"/>
          </a:p>
        </p:txBody>
      </p:sp>
      <p:sp>
        <p:nvSpPr>
          <p:cNvPr id="9" name="Text 7"/>
          <p:cNvSpPr/>
          <p:nvPr/>
        </p:nvSpPr>
        <p:spPr>
          <a:xfrm>
            <a:off x="884683" y="2413000"/>
            <a:ext cx="3200451"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توقع بالتعلّم الآلي واتختبر على 3 شهور ماشافهاش</a:t>
            </a:r>
            <a:endParaRPr lang="en-US" sz="1200" dirty="0"/>
          </a:p>
        </p:txBody>
      </p:sp>
      <p:sp>
        <p:nvSpPr>
          <p:cNvPr id="10" name="Shape 8"/>
          <p:cNvSpPr/>
          <p:nvPr/>
        </p:nvSpPr>
        <p:spPr>
          <a:xfrm>
            <a:off x="4377234" y="1479550"/>
            <a:ext cx="3437434" cy="1530350"/>
          </a:xfrm>
          <a:prstGeom prst="roundRect">
            <a:avLst>
              <a:gd name="adj" fmla="val 6639"/>
            </a:avLst>
          </a:prstGeom>
          <a:solidFill>
            <a:srgbClr val="0E1745"/>
          </a:solidFill>
          <a:ln/>
        </p:spPr>
      </p:sp>
      <p:sp>
        <p:nvSpPr>
          <p:cNvPr id="11" name="Shape 9"/>
          <p:cNvSpPr/>
          <p:nvPr/>
        </p:nvSpPr>
        <p:spPr>
          <a:xfrm>
            <a:off x="4377234" y="1479550"/>
            <a:ext cx="3437434" cy="1530350"/>
          </a:xfrm>
          <a:custGeom>
            <a:avLst/>
            <a:gdLst/>
            <a:ahLst/>
            <a:cxnLst/>
            <a:rect l="l" t="t" r="r" b="b"/>
            <a:pathLst>
              <a:path w="3437434" h="1530350">
                <a:moveTo>
                  <a:pt x="0" y="101600"/>
                </a:moveTo>
                <a:lnTo>
                  <a:pt x="0" y="101600"/>
                </a:lnTo>
                <a:arcTo hR="101600" wR="101600" stAng="10800000" swAng="5400000"/>
                <a:lnTo>
                  <a:pt x="3335834" y="0"/>
                </a:lnTo>
                <a:arcTo hR="101600" wR="101600" stAng="16200000" swAng="5400000"/>
                <a:lnTo>
                  <a:pt x="3437434" y="101600"/>
                </a:lnTo>
                <a:arcTo hR="63500" wR="101600" stAng="0" swAng="-5400000"/>
                <a:lnTo>
                  <a:pt x="101600" y="38100"/>
                </a:lnTo>
                <a:arcTo hR="63500" wR="101600" stAng="16200000" swAng="-5400000"/>
                <a:close/>
              </a:path>
            </a:pathLst>
          </a:custGeom>
          <a:solidFill>
            <a:srgbClr val="22D3EE"/>
          </a:solidFill>
          <a:ln/>
        </p:spPr>
      </p:sp>
      <p:sp>
        <p:nvSpPr>
          <p:cNvPr id="12" name="Text 10"/>
          <p:cNvSpPr/>
          <p:nvPr/>
        </p:nvSpPr>
        <p:spPr>
          <a:xfrm>
            <a:off x="4542334" y="1657350"/>
            <a:ext cx="320045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Replenishment</a:t>
            </a:r>
            <a:endParaRPr lang="en-US" sz="1400" dirty="0"/>
          </a:p>
        </p:txBody>
      </p:sp>
      <p:sp>
        <p:nvSpPr>
          <p:cNvPr id="13" name="Text 11"/>
          <p:cNvSpPr/>
          <p:nvPr/>
        </p:nvSpPr>
        <p:spPr>
          <a:xfrm>
            <a:off x="4542334" y="1955800"/>
            <a:ext cx="3200451"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Demand over lead time + 30 days + safety stock, minus stock on hand</a:t>
            </a:r>
            <a:endParaRPr lang="en-US" sz="1200" dirty="0"/>
          </a:p>
        </p:txBody>
      </p:sp>
      <p:sp>
        <p:nvSpPr>
          <p:cNvPr id="14" name="Text 12"/>
          <p:cNvSpPr/>
          <p:nvPr/>
        </p:nvSpPr>
        <p:spPr>
          <a:xfrm>
            <a:off x="4449117" y="2413000"/>
            <a:ext cx="3200451"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الطلب خلال مدة التوريد + 30 يوم + مخزون أمان ناقص الموجود</a:t>
            </a:r>
            <a:endParaRPr lang="en-US" sz="1200" dirty="0"/>
          </a:p>
        </p:txBody>
      </p:sp>
      <p:sp>
        <p:nvSpPr>
          <p:cNvPr id="15" name="Shape 13"/>
          <p:cNvSpPr/>
          <p:nvPr/>
        </p:nvSpPr>
        <p:spPr>
          <a:xfrm>
            <a:off x="7941667" y="1479550"/>
            <a:ext cx="3437533" cy="1530350"/>
          </a:xfrm>
          <a:prstGeom prst="roundRect">
            <a:avLst>
              <a:gd name="adj" fmla="val 6639"/>
            </a:avLst>
          </a:prstGeom>
          <a:solidFill>
            <a:srgbClr val="0E1745"/>
          </a:solidFill>
          <a:ln/>
        </p:spPr>
      </p:sp>
      <p:sp>
        <p:nvSpPr>
          <p:cNvPr id="16" name="Shape 14"/>
          <p:cNvSpPr/>
          <p:nvPr/>
        </p:nvSpPr>
        <p:spPr>
          <a:xfrm>
            <a:off x="7941667" y="1479550"/>
            <a:ext cx="3437533" cy="1530350"/>
          </a:xfrm>
          <a:custGeom>
            <a:avLst/>
            <a:gdLst/>
            <a:ahLst/>
            <a:cxnLst/>
            <a:rect l="l" t="t" r="r" b="b"/>
            <a:pathLst>
              <a:path w="3437533" h="1530350">
                <a:moveTo>
                  <a:pt x="0" y="101600"/>
                </a:moveTo>
                <a:lnTo>
                  <a:pt x="0" y="101600"/>
                </a:lnTo>
                <a:arcTo hR="101600" wR="101600" stAng="10800000" swAng="5400000"/>
                <a:lnTo>
                  <a:pt x="3335933" y="0"/>
                </a:lnTo>
                <a:arcTo hR="101600" wR="101600" stAng="16200000" swAng="5400000"/>
                <a:lnTo>
                  <a:pt x="3437533" y="101600"/>
                </a:lnTo>
                <a:arcTo hR="63500" wR="101600" stAng="0" swAng="-5400000"/>
                <a:lnTo>
                  <a:pt x="101600" y="38100"/>
                </a:lnTo>
                <a:arcTo hR="63500" wR="101600" stAng="16200000" swAng="-5400000"/>
                <a:close/>
              </a:path>
            </a:pathLst>
          </a:custGeom>
          <a:solidFill>
            <a:srgbClr val="FF9248"/>
          </a:solidFill>
          <a:ln/>
        </p:spPr>
      </p:sp>
      <p:sp>
        <p:nvSpPr>
          <p:cNvPr id="17" name="Text 15"/>
          <p:cNvSpPr/>
          <p:nvPr/>
        </p:nvSpPr>
        <p:spPr>
          <a:xfrm>
            <a:off x="8106767" y="1657350"/>
            <a:ext cx="3200553"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Margin and discounts</a:t>
            </a:r>
            <a:endParaRPr lang="en-US" sz="1400" dirty="0"/>
          </a:p>
        </p:txBody>
      </p:sp>
      <p:sp>
        <p:nvSpPr>
          <p:cNvPr id="18" name="Text 16"/>
          <p:cNvSpPr/>
          <p:nvPr/>
        </p:nvSpPr>
        <p:spPr>
          <a:xfrm>
            <a:off x="8106767" y="1955800"/>
            <a:ext cx="3200553"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Product cost ratios from the sales file; deal-desk simulation with break-even volume</a:t>
            </a:r>
            <a:endParaRPr lang="en-US" sz="1200" dirty="0"/>
          </a:p>
        </p:txBody>
      </p:sp>
      <p:sp>
        <p:nvSpPr>
          <p:cNvPr id="19" name="Text 17"/>
          <p:cNvSpPr/>
          <p:nvPr/>
        </p:nvSpPr>
        <p:spPr>
          <a:xfrm>
            <a:off x="8013547" y="2413000"/>
            <a:ext cx="3200553"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محاكاة الخصم ونقطة التعادل بتكلفة كل منتج</a:t>
            </a:r>
            <a:endParaRPr lang="en-US" sz="1200" dirty="0"/>
          </a:p>
        </p:txBody>
      </p:sp>
      <p:sp>
        <p:nvSpPr>
          <p:cNvPr id="20" name="Shape 18"/>
          <p:cNvSpPr/>
          <p:nvPr/>
        </p:nvSpPr>
        <p:spPr>
          <a:xfrm>
            <a:off x="812800" y="3136900"/>
            <a:ext cx="3437434" cy="1530350"/>
          </a:xfrm>
          <a:prstGeom prst="roundRect">
            <a:avLst>
              <a:gd name="adj" fmla="val 6639"/>
            </a:avLst>
          </a:prstGeom>
          <a:solidFill>
            <a:srgbClr val="0E1745"/>
          </a:solidFill>
          <a:ln/>
        </p:spPr>
      </p:sp>
      <p:sp>
        <p:nvSpPr>
          <p:cNvPr id="21" name="Shape 19"/>
          <p:cNvSpPr/>
          <p:nvPr/>
        </p:nvSpPr>
        <p:spPr>
          <a:xfrm>
            <a:off x="812800" y="3136900"/>
            <a:ext cx="3437434" cy="1530350"/>
          </a:xfrm>
          <a:custGeom>
            <a:avLst/>
            <a:gdLst/>
            <a:ahLst/>
            <a:cxnLst/>
            <a:rect l="l" t="t" r="r" b="b"/>
            <a:pathLst>
              <a:path w="3437434" h="1530350">
                <a:moveTo>
                  <a:pt x="0" y="101600"/>
                </a:moveTo>
                <a:lnTo>
                  <a:pt x="0" y="101600"/>
                </a:lnTo>
                <a:arcTo hR="101600" wR="101600" stAng="10800000" swAng="5400000"/>
                <a:lnTo>
                  <a:pt x="3335834" y="0"/>
                </a:lnTo>
                <a:arcTo hR="101600" wR="101600" stAng="16200000" swAng="5400000"/>
                <a:lnTo>
                  <a:pt x="3437434" y="101600"/>
                </a:lnTo>
                <a:arcTo hR="63500" wR="101600" stAng="0" swAng="-5400000"/>
                <a:lnTo>
                  <a:pt x="101600" y="38100"/>
                </a:lnTo>
                <a:arcTo hR="63500" wR="101600" stAng="16200000" swAng="-5400000"/>
                <a:close/>
              </a:path>
            </a:pathLst>
          </a:custGeom>
          <a:solidFill>
            <a:srgbClr val="2DD4BF"/>
          </a:solidFill>
          <a:ln/>
        </p:spPr>
      </p:sp>
      <p:sp>
        <p:nvSpPr>
          <p:cNvPr id="22" name="Text 20"/>
          <p:cNvSpPr/>
          <p:nvPr/>
        </p:nvSpPr>
        <p:spPr>
          <a:xfrm>
            <a:off x="977900" y="3314700"/>
            <a:ext cx="320045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Customers</a:t>
            </a:r>
            <a:endParaRPr lang="en-US" sz="1400" dirty="0"/>
          </a:p>
        </p:txBody>
      </p:sp>
      <p:sp>
        <p:nvSpPr>
          <p:cNvPr id="23" name="Text 21"/>
          <p:cNvSpPr/>
          <p:nvPr/>
        </p:nvSpPr>
        <p:spPr>
          <a:xfrm>
            <a:off x="977900" y="3613150"/>
            <a:ext cx="3200451"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RFM segments, cohorts and a repurchase model checked against a holdout</a:t>
            </a:r>
            <a:endParaRPr lang="en-US" sz="1200" dirty="0"/>
          </a:p>
        </p:txBody>
      </p:sp>
      <p:sp>
        <p:nvSpPr>
          <p:cNvPr id="24" name="Text 22"/>
          <p:cNvSpPr/>
          <p:nvPr/>
        </p:nvSpPr>
        <p:spPr>
          <a:xfrm>
            <a:off x="884683" y="4070350"/>
            <a:ext cx="3200451"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شرايح العملاء ونموذج إعادة الشراء على مجموعة اختبار</a:t>
            </a:r>
            <a:endParaRPr lang="en-US" sz="1200" dirty="0"/>
          </a:p>
        </p:txBody>
      </p:sp>
      <p:sp>
        <p:nvSpPr>
          <p:cNvPr id="25" name="Shape 23"/>
          <p:cNvSpPr/>
          <p:nvPr/>
        </p:nvSpPr>
        <p:spPr>
          <a:xfrm>
            <a:off x="4377234" y="3136900"/>
            <a:ext cx="3437434" cy="1530350"/>
          </a:xfrm>
          <a:prstGeom prst="roundRect">
            <a:avLst>
              <a:gd name="adj" fmla="val 6639"/>
            </a:avLst>
          </a:prstGeom>
          <a:solidFill>
            <a:srgbClr val="0E1745"/>
          </a:solidFill>
          <a:ln/>
        </p:spPr>
      </p:sp>
      <p:sp>
        <p:nvSpPr>
          <p:cNvPr id="26" name="Shape 24"/>
          <p:cNvSpPr/>
          <p:nvPr/>
        </p:nvSpPr>
        <p:spPr>
          <a:xfrm>
            <a:off x="4377234" y="3136900"/>
            <a:ext cx="3437434" cy="1530350"/>
          </a:xfrm>
          <a:custGeom>
            <a:avLst/>
            <a:gdLst/>
            <a:ahLst/>
            <a:cxnLst/>
            <a:rect l="l" t="t" r="r" b="b"/>
            <a:pathLst>
              <a:path w="3437434" h="1530350">
                <a:moveTo>
                  <a:pt x="0" y="101600"/>
                </a:moveTo>
                <a:lnTo>
                  <a:pt x="0" y="101600"/>
                </a:lnTo>
                <a:arcTo hR="101600" wR="101600" stAng="10800000" swAng="5400000"/>
                <a:lnTo>
                  <a:pt x="3335834" y="0"/>
                </a:lnTo>
                <a:arcTo hR="101600" wR="101600" stAng="16200000" swAng="5400000"/>
                <a:lnTo>
                  <a:pt x="3437434" y="101600"/>
                </a:lnTo>
                <a:arcTo hR="63500" wR="101600" stAng="0" swAng="-5400000"/>
                <a:lnTo>
                  <a:pt x="101600" y="38100"/>
                </a:lnTo>
                <a:arcTo hR="63500" wR="101600" stAng="16200000" swAng="-5400000"/>
                <a:close/>
              </a:path>
            </a:pathLst>
          </a:custGeom>
          <a:solidFill>
            <a:srgbClr val="FF70AB"/>
          </a:solidFill>
          <a:ln/>
        </p:spPr>
      </p:sp>
      <p:sp>
        <p:nvSpPr>
          <p:cNvPr id="27" name="Text 25"/>
          <p:cNvSpPr/>
          <p:nvPr/>
        </p:nvSpPr>
        <p:spPr>
          <a:xfrm>
            <a:off x="4542334" y="3314700"/>
            <a:ext cx="320045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Operations</a:t>
            </a:r>
            <a:endParaRPr lang="en-US" sz="1400" dirty="0"/>
          </a:p>
        </p:txBody>
      </p:sp>
      <p:sp>
        <p:nvSpPr>
          <p:cNvPr id="28" name="Text 26"/>
          <p:cNvSpPr/>
          <p:nvPr/>
        </p:nvSpPr>
        <p:spPr>
          <a:xfrm>
            <a:off x="4542334" y="3613150"/>
            <a:ext cx="3200451"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Delay by stage, downtime, yield, supplier on-time delivery and price trend</a:t>
            </a:r>
            <a:endParaRPr lang="en-US" sz="1200" dirty="0"/>
          </a:p>
        </p:txBody>
      </p:sp>
      <p:sp>
        <p:nvSpPr>
          <p:cNvPr id="29" name="Text 27"/>
          <p:cNvSpPr/>
          <p:nvPr/>
        </p:nvSpPr>
        <p:spPr>
          <a:xfrm>
            <a:off x="4449117" y="4070350"/>
            <a:ext cx="3200451"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التأخير حسب المرحلة وتوقف الماكينات وتسليم الموردين</a:t>
            </a:r>
            <a:endParaRPr lang="en-US" sz="1200" dirty="0"/>
          </a:p>
        </p:txBody>
      </p:sp>
      <p:sp>
        <p:nvSpPr>
          <p:cNvPr id="30" name="Shape 28"/>
          <p:cNvSpPr/>
          <p:nvPr/>
        </p:nvSpPr>
        <p:spPr>
          <a:xfrm>
            <a:off x="7941667" y="3136900"/>
            <a:ext cx="3437533" cy="1530350"/>
          </a:xfrm>
          <a:prstGeom prst="roundRect">
            <a:avLst>
              <a:gd name="adj" fmla="val 6639"/>
            </a:avLst>
          </a:prstGeom>
          <a:solidFill>
            <a:srgbClr val="0E1745"/>
          </a:solidFill>
          <a:ln/>
        </p:spPr>
      </p:sp>
      <p:sp>
        <p:nvSpPr>
          <p:cNvPr id="31" name="Shape 29"/>
          <p:cNvSpPr/>
          <p:nvPr/>
        </p:nvSpPr>
        <p:spPr>
          <a:xfrm>
            <a:off x="7941667" y="3136900"/>
            <a:ext cx="3437533" cy="1530350"/>
          </a:xfrm>
          <a:custGeom>
            <a:avLst/>
            <a:gdLst/>
            <a:ahLst/>
            <a:cxnLst/>
            <a:rect l="l" t="t" r="r" b="b"/>
            <a:pathLst>
              <a:path w="3437533" h="1530350">
                <a:moveTo>
                  <a:pt x="0" y="101600"/>
                </a:moveTo>
                <a:lnTo>
                  <a:pt x="0" y="101600"/>
                </a:lnTo>
                <a:arcTo hR="101600" wR="101600" stAng="10800000" swAng="5400000"/>
                <a:lnTo>
                  <a:pt x="3335933" y="0"/>
                </a:lnTo>
                <a:arcTo hR="101600" wR="101600" stAng="16200000" swAng="5400000"/>
                <a:lnTo>
                  <a:pt x="3437533" y="101600"/>
                </a:lnTo>
                <a:arcTo hR="63500" wR="101600" stAng="0" swAng="-5400000"/>
                <a:lnTo>
                  <a:pt x="101600" y="38100"/>
                </a:lnTo>
                <a:arcTo hR="63500" wR="101600" stAng="16200000" swAng="-5400000"/>
                <a:close/>
              </a:path>
            </a:pathLst>
          </a:custGeom>
          <a:solidFill>
            <a:srgbClr val="FFC233"/>
          </a:solidFill>
          <a:ln/>
        </p:spPr>
      </p:sp>
      <p:sp>
        <p:nvSpPr>
          <p:cNvPr id="32" name="Text 30"/>
          <p:cNvSpPr/>
          <p:nvPr/>
        </p:nvSpPr>
        <p:spPr>
          <a:xfrm>
            <a:off x="8106767" y="3314700"/>
            <a:ext cx="3200553"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Integrity checks</a:t>
            </a:r>
            <a:endParaRPr lang="en-US" sz="1400" dirty="0"/>
          </a:p>
        </p:txBody>
      </p:sp>
      <p:sp>
        <p:nvSpPr>
          <p:cNvPr id="33" name="Text 31"/>
          <p:cNvSpPr/>
          <p:nvPr/>
        </p:nvSpPr>
        <p:spPr>
          <a:xfrm>
            <a:off x="8106767" y="3613150"/>
            <a:ext cx="3200553"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Cross-table reconciliation: 0 stock gaps in 6,195 month pairs; other gaps flagged</a:t>
            </a:r>
            <a:endParaRPr lang="en-US" sz="1200" dirty="0"/>
          </a:p>
        </p:txBody>
      </p:sp>
      <p:sp>
        <p:nvSpPr>
          <p:cNvPr id="34" name="Text 32"/>
          <p:cNvSpPr/>
          <p:nvPr/>
        </p:nvSpPr>
        <p:spPr>
          <a:xfrm>
            <a:off x="8013547" y="4070350"/>
            <a:ext cx="3200553"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مطابقة الجداول ببعض وتحديد الفروق بدل ما نخفيها</a:t>
            </a:r>
            <a:endParaRPr lang="en-US" sz="1200" dirty="0"/>
          </a:p>
        </p:txBody>
      </p:sp>
      <p:sp>
        <p:nvSpPr>
          <p:cNvPr id="35" name="Text 33"/>
          <p:cNvSpPr/>
          <p:nvPr/>
        </p:nvSpPr>
        <p:spPr>
          <a:xfrm>
            <a:off x="812800" y="4870450"/>
            <a:ext cx="10883392"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FE6"/>
                </a:solidFill>
                <a:latin typeface="Cairo" pitchFamily="34" charset="0"/>
                <a:ea typeface="Cairo" pitchFamily="34" charset="-122"/>
                <a:cs typeface="Cairo" pitchFamily="34" charset="-120"/>
              </a:rPr>
              <a:t>Forecast error on unseen months: 4.1% retail, 7.7% wholesale, 11.3% online (channel totals); 21.6% per product against 29.4% for a naive guess. Fiscal year runs Oct to Sep.</a:t>
            </a:r>
            <a:endParaRPr lang="en-US" sz="1300" dirty="0"/>
          </a:p>
        </p:txBody>
      </p:sp>
      <p:sp>
        <p:nvSpPr>
          <p:cNvPr id="36" name="Text 34"/>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4399099"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04 · BUSINESS HEALTH CHECK</a:t>
            </a:r>
            <a:endParaRPr lang="en-US" sz="1200" dirty="0"/>
          </a:p>
        </p:txBody>
      </p:sp>
      <p:sp>
        <p:nvSpPr>
          <p:cNvPr id="3" name="Text 1"/>
          <p:cNvSpPr/>
          <p:nvPr>
            <p:ph type="title"/>
          </p:nvPr>
        </p:nvSpPr>
        <p:spPr>
          <a:xfrm>
            <a:off x="812800" y="857250"/>
            <a:ext cx="512516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Six problems, ranked</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6 مشاكل مترتبة بالأهمية</a:t>
            </a:r>
            <a:endParaRPr lang="en-US" sz="1800" dirty="0"/>
          </a:p>
        </p:txBody>
      </p:sp>
      <p:sp>
        <p:nvSpPr>
          <p:cNvPr id="5" name="Shape 3"/>
          <p:cNvSpPr/>
          <p:nvPr/>
        </p:nvSpPr>
        <p:spPr>
          <a:xfrm>
            <a:off x="812800" y="1454150"/>
            <a:ext cx="4927600" cy="565150"/>
          </a:xfrm>
          <a:prstGeom prst="roundRect">
            <a:avLst>
              <a:gd name="adj" fmla="val 13483"/>
            </a:avLst>
          </a:prstGeom>
          <a:solidFill>
            <a:srgbClr val="0E1745"/>
          </a:solidFill>
          <a:ln/>
        </p:spPr>
      </p:sp>
      <p:sp>
        <p:nvSpPr>
          <p:cNvPr id="6" name="Shape 4"/>
          <p:cNvSpPr/>
          <p:nvPr/>
        </p:nvSpPr>
        <p:spPr>
          <a:xfrm>
            <a:off x="812800" y="1454150"/>
            <a:ext cx="4927600" cy="565150"/>
          </a:xfrm>
          <a:custGeom>
            <a:avLst/>
            <a:gdLst/>
            <a:ahLst/>
            <a:cxnLst/>
            <a:rect l="l" t="t" r="r" b="b"/>
            <a:pathLst>
              <a:path w="4927600" h="565150">
                <a:moveTo>
                  <a:pt x="76200" y="565150"/>
                </a:moveTo>
                <a:lnTo>
                  <a:pt x="76200" y="565150"/>
                </a:lnTo>
                <a:arcTo hR="76200" wR="76200" stAng="5400000" swAng="5400000"/>
                <a:lnTo>
                  <a:pt x="0" y="76200"/>
                </a:lnTo>
                <a:arcTo hR="76200" wR="76200" stAng="10800000" swAng="5400000"/>
                <a:lnTo>
                  <a:pt x="76200" y="0"/>
                </a:lnTo>
                <a:arcTo hR="76200" wR="25400" stAng="16200000" swAng="-5400000"/>
                <a:lnTo>
                  <a:pt x="50800" y="488950"/>
                </a:lnTo>
                <a:arcTo hR="76200" wR="25400" stAng="10800000" swAng="-5400000"/>
                <a:close/>
              </a:path>
            </a:pathLst>
          </a:custGeom>
          <a:solidFill>
            <a:srgbClr val="FF4D5E"/>
          </a:solidFill>
          <a:ln/>
        </p:spPr>
      </p:sp>
      <p:sp>
        <p:nvSpPr>
          <p:cNvPr id="7" name="Text 5"/>
          <p:cNvSpPr/>
          <p:nvPr/>
        </p:nvSpPr>
        <p:spPr>
          <a:xfrm>
            <a:off x="990600" y="1517650"/>
            <a:ext cx="476148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F5FF"/>
                </a:solidFill>
                <a:latin typeface="Cairo" pitchFamily="34" charset="0"/>
                <a:ea typeface="Cairo" pitchFamily="34" charset="-122"/>
                <a:cs typeface="Cairo" pitchFamily="34" charset="-120"/>
              </a:rPr>
              <a:t>1 · Wholesale discounts eat the margin</a:t>
            </a:r>
            <a:endParaRPr lang="en-US" sz="1300" dirty="0"/>
          </a:p>
        </p:txBody>
      </p:sp>
      <p:sp>
        <p:nvSpPr>
          <p:cNvPr id="8" name="Text 6"/>
          <p:cNvSpPr/>
          <p:nvPr/>
        </p:nvSpPr>
        <p:spPr>
          <a:xfrm>
            <a:off x="851916" y="1746250"/>
            <a:ext cx="476148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خصومات الجملة بتاكل الهامش</a:t>
            </a:r>
            <a:endParaRPr lang="en-US" sz="1200" dirty="0"/>
          </a:p>
        </p:txBody>
      </p:sp>
      <p:sp>
        <p:nvSpPr>
          <p:cNvPr id="9" name="Shape 7"/>
          <p:cNvSpPr/>
          <p:nvPr/>
        </p:nvSpPr>
        <p:spPr>
          <a:xfrm>
            <a:off x="812800" y="2082800"/>
            <a:ext cx="4927600" cy="565150"/>
          </a:xfrm>
          <a:prstGeom prst="roundRect">
            <a:avLst>
              <a:gd name="adj" fmla="val 13483"/>
            </a:avLst>
          </a:prstGeom>
          <a:solidFill>
            <a:srgbClr val="0E1745"/>
          </a:solidFill>
          <a:ln/>
        </p:spPr>
      </p:sp>
      <p:sp>
        <p:nvSpPr>
          <p:cNvPr id="10" name="Shape 8"/>
          <p:cNvSpPr/>
          <p:nvPr/>
        </p:nvSpPr>
        <p:spPr>
          <a:xfrm>
            <a:off x="812800" y="2082800"/>
            <a:ext cx="4927600" cy="565150"/>
          </a:xfrm>
          <a:custGeom>
            <a:avLst/>
            <a:gdLst/>
            <a:ahLst/>
            <a:cxnLst/>
            <a:rect l="l" t="t" r="r" b="b"/>
            <a:pathLst>
              <a:path w="4927600" h="565150">
                <a:moveTo>
                  <a:pt x="76200" y="565150"/>
                </a:moveTo>
                <a:lnTo>
                  <a:pt x="76200" y="565150"/>
                </a:lnTo>
                <a:arcTo hR="76200" wR="76200" stAng="5400000" swAng="5400000"/>
                <a:lnTo>
                  <a:pt x="0" y="76200"/>
                </a:lnTo>
                <a:arcTo hR="76200" wR="76200" stAng="10800000" swAng="5400000"/>
                <a:lnTo>
                  <a:pt x="76200" y="0"/>
                </a:lnTo>
                <a:arcTo hR="76200" wR="25400" stAng="16200000" swAng="-5400000"/>
                <a:lnTo>
                  <a:pt x="50800" y="488950"/>
                </a:lnTo>
                <a:arcTo hR="76200" wR="25400" stAng="10800000" swAng="-5400000"/>
                <a:close/>
              </a:path>
            </a:pathLst>
          </a:custGeom>
          <a:solidFill>
            <a:srgbClr val="FF4D5E"/>
          </a:solidFill>
          <a:ln/>
        </p:spPr>
      </p:sp>
      <p:sp>
        <p:nvSpPr>
          <p:cNvPr id="11" name="Text 9"/>
          <p:cNvSpPr/>
          <p:nvPr/>
        </p:nvSpPr>
        <p:spPr>
          <a:xfrm>
            <a:off x="990600" y="2146300"/>
            <a:ext cx="476148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F5FF"/>
                </a:solidFill>
                <a:latin typeface="Cairo" pitchFamily="34" charset="0"/>
                <a:ea typeface="Cairo" pitchFamily="34" charset="-122"/>
                <a:cs typeface="Cairo" pitchFamily="34" charset="-120"/>
              </a:rPr>
              <a:t>2 · Wholesale stock runs out</a:t>
            </a:r>
            <a:endParaRPr lang="en-US" sz="1300" dirty="0"/>
          </a:p>
        </p:txBody>
      </p:sp>
      <p:sp>
        <p:nvSpPr>
          <p:cNvPr id="12" name="Text 10"/>
          <p:cNvSpPr/>
          <p:nvPr/>
        </p:nvSpPr>
        <p:spPr>
          <a:xfrm>
            <a:off x="851916" y="2374900"/>
            <a:ext cx="476148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مخزون الجملة بيخلص</a:t>
            </a:r>
            <a:endParaRPr lang="en-US" sz="1200" dirty="0"/>
          </a:p>
        </p:txBody>
      </p:sp>
      <p:sp>
        <p:nvSpPr>
          <p:cNvPr id="13" name="Shape 11"/>
          <p:cNvSpPr/>
          <p:nvPr/>
        </p:nvSpPr>
        <p:spPr>
          <a:xfrm>
            <a:off x="812800" y="2711450"/>
            <a:ext cx="4927600" cy="565150"/>
          </a:xfrm>
          <a:prstGeom prst="roundRect">
            <a:avLst>
              <a:gd name="adj" fmla="val 13483"/>
            </a:avLst>
          </a:prstGeom>
          <a:solidFill>
            <a:srgbClr val="0E1745"/>
          </a:solidFill>
          <a:ln/>
        </p:spPr>
      </p:sp>
      <p:sp>
        <p:nvSpPr>
          <p:cNvPr id="14" name="Shape 12"/>
          <p:cNvSpPr/>
          <p:nvPr/>
        </p:nvSpPr>
        <p:spPr>
          <a:xfrm>
            <a:off x="812800" y="2711450"/>
            <a:ext cx="4927600" cy="565150"/>
          </a:xfrm>
          <a:custGeom>
            <a:avLst/>
            <a:gdLst/>
            <a:ahLst/>
            <a:cxnLst/>
            <a:rect l="l" t="t" r="r" b="b"/>
            <a:pathLst>
              <a:path w="4927600" h="565150">
                <a:moveTo>
                  <a:pt x="76200" y="565150"/>
                </a:moveTo>
                <a:lnTo>
                  <a:pt x="76200" y="565150"/>
                </a:lnTo>
                <a:arcTo hR="76200" wR="76200" stAng="5400000" swAng="5400000"/>
                <a:lnTo>
                  <a:pt x="0" y="76200"/>
                </a:lnTo>
                <a:arcTo hR="76200" wR="76200" stAng="10800000" swAng="5400000"/>
                <a:lnTo>
                  <a:pt x="76200" y="0"/>
                </a:lnTo>
                <a:arcTo hR="76200" wR="25400" stAng="16200000" swAng="-5400000"/>
                <a:lnTo>
                  <a:pt x="50800" y="488950"/>
                </a:lnTo>
                <a:arcTo hR="76200" wR="25400" stAng="10800000" swAng="-5400000"/>
                <a:close/>
              </a:path>
            </a:pathLst>
          </a:custGeom>
          <a:solidFill>
            <a:srgbClr val="FF4D5E"/>
          </a:solidFill>
          <a:ln/>
        </p:spPr>
      </p:sp>
      <p:sp>
        <p:nvSpPr>
          <p:cNvPr id="15" name="Text 13"/>
          <p:cNvSpPr/>
          <p:nvPr/>
        </p:nvSpPr>
        <p:spPr>
          <a:xfrm>
            <a:off x="990600" y="2774950"/>
            <a:ext cx="476148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F5FF"/>
                </a:solidFill>
                <a:latin typeface="Cairo" pitchFamily="34" charset="0"/>
                <a:ea typeface="Cairo" pitchFamily="34" charset="-122"/>
                <a:cs typeface="Cairo" pitchFamily="34" charset="-120"/>
              </a:rPr>
              <a:t>3 · Two suppliers are always late</a:t>
            </a:r>
            <a:endParaRPr lang="en-US" sz="1300" dirty="0"/>
          </a:p>
        </p:txBody>
      </p:sp>
      <p:sp>
        <p:nvSpPr>
          <p:cNvPr id="16" name="Text 14"/>
          <p:cNvSpPr/>
          <p:nvPr/>
        </p:nvSpPr>
        <p:spPr>
          <a:xfrm>
            <a:off x="851916" y="3003550"/>
            <a:ext cx="476148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موردين اتنين متأخرين دايماً</a:t>
            </a:r>
            <a:endParaRPr lang="en-US" sz="1200" dirty="0"/>
          </a:p>
        </p:txBody>
      </p:sp>
      <p:sp>
        <p:nvSpPr>
          <p:cNvPr id="17" name="Shape 15"/>
          <p:cNvSpPr/>
          <p:nvPr/>
        </p:nvSpPr>
        <p:spPr>
          <a:xfrm>
            <a:off x="812800" y="3340100"/>
            <a:ext cx="4927600" cy="565150"/>
          </a:xfrm>
          <a:prstGeom prst="roundRect">
            <a:avLst>
              <a:gd name="adj" fmla="val 13483"/>
            </a:avLst>
          </a:prstGeom>
          <a:solidFill>
            <a:srgbClr val="0E1745"/>
          </a:solidFill>
          <a:ln/>
        </p:spPr>
      </p:sp>
      <p:sp>
        <p:nvSpPr>
          <p:cNvPr id="18" name="Shape 16"/>
          <p:cNvSpPr/>
          <p:nvPr/>
        </p:nvSpPr>
        <p:spPr>
          <a:xfrm>
            <a:off x="812800" y="3340100"/>
            <a:ext cx="4927600" cy="565150"/>
          </a:xfrm>
          <a:custGeom>
            <a:avLst/>
            <a:gdLst/>
            <a:ahLst/>
            <a:cxnLst/>
            <a:rect l="l" t="t" r="r" b="b"/>
            <a:pathLst>
              <a:path w="4927600" h="565150">
                <a:moveTo>
                  <a:pt x="76200" y="565150"/>
                </a:moveTo>
                <a:lnTo>
                  <a:pt x="76200" y="565150"/>
                </a:lnTo>
                <a:arcTo hR="76200" wR="76200" stAng="5400000" swAng="5400000"/>
                <a:lnTo>
                  <a:pt x="0" y="76200"/>
                </a:lnTo>
                <a:arcTo hR="76200" wR="76200" stAng="10800000" swAng="5400000"/>
                <a:lnTo>
                  <a:pt x="76200" y="0"/>
                </a:lnTo>
                <a:arcTo hR="76200" wR="25400" stAng="16200000" swAng="-5400000"/>
                <a:lnTo>
                  <a:pt x="50800" y="488950"/>
                </a:lnTo>
                <a:arcTo hR="76200" wR="25400" stAng="10800000" swAng="-5400000"/>
                <a:close/>
              </a:path>
            </a:pathLst>
          </a:custGeom>
          <a:solidFill>
            <a:srgbClr val="FFC233"/>
          </a:solidFill>
          <a:ln/>
        </p:spPr>
      </p:sp>
      <p:sp>
        <p:nvSpPr>
          <p:cNvPr id="19" name="Text 17"/>
          <p:cNvSpPr/>
          <p:nvPr/>
        </p:nvSpPr>
        <p:spPr>
          <a:xfrm>
            <a:off x="990600" y="3403600"/>
            <a:ext cx="476148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F5FF"/>
                </a:solidFill>
                <a:latin typeface="Cairo" pitchFamily="34" charset="0"/>
                <a:ea typeface="Cairo" pitchFamily="34" charset="-122"/>
                <a:cs typeface="Cairo" pitchFamily="34" charset="-120"/>
              </a:rPr>
              <a:t>4 · Factory orders finish late</a:t>
            </a:r>
            <a:endParaRPr lang="en-US" sz="1300" dirty="0"/>
          </a:p>
        </p:txBody>
      </p:sp>
      <p:sp>
        <p:nvSpPr>
          <p:cNvPr id="20" name="Text 18"/>
          <p:cNvSpPr/>
          <p:nvPr/>
        </p:nvSpPr>
        <p:spPr>
          <a:xfrm>
            <a:off x="851916" y="3632200"/>
            <a:ext cx="476148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أوردرات المصنع بتتأخر</a:t>
            </a:r>
            <a:endParaRPr lang="en-US" sz="1200" dirty="0"/>
          </a:p>
        </p:txBody>
      </p:sp>
      <p:sp>
        <p:nvSpPr>
          <p:cNvPr id="21" name="Shape 19"/>
          <p:cNvSpPr/>
          <p:nvPr/>
        </p:nvSpPr>
        <p:spPr>
          <a:xfrm>
            <a:off x="812800" y="3968750"/>
            <a:ext cx="4927600" cy="565150"/>
          </a:xfrm>
          <a:prstGeom prst="roundRect">
            <a:avLst>
              <a:gd name="adj" fmla="val 13483"/>
            </a:avLst>
          </a:prstGeom>
          <a:solidFill>
            <a:srgbClr val="0E1745"/>
          </a:solidFill>
          <a:ln/>
        </p:spPr>
      </p:sp>
      <p:sp>
        <p:nvSpPr>
          <p:cNvPr id="22" name="Shape 20"/>
          <p:cNvSpPr/>
          <p:nvPr/>
        </p:nvSpPr>
        <p:spPr>
          <a:xfrm>
            <a:off x="812800" y="3968750"/>
            <a:ext cx="4927600" cy="565150"/>
          </a:xfrm>
          <a:custGeom>
            <a:avLst/>
            <a:gdLst/>
            <a:ahLst/>
            <a:cxnLst/>
            <a:rect l="l" t="t" r="r" b="b"/>
            <a:pathLst>
              <a:path w="4927600" h="565150">
                <a:moveTo>
                  <a:pt x="76200" y="565150"/>
                </a:moveTo>
                <a:lnTo>
                  <a:pt x="76200" y="565150"/>
                </a:lnTo>
                <a:arcTo hR="76200" wR="76200" stAng="5400000" swAng="5400000"/>
                <a:lnTo>
                  <a:pt x="0" y="76200"/>
                </a:lnTo>
                <a:arcTo hR="76200" wR="76200" stAng="10800000" swAng="5400000"/>
                <a:lnTo>
                  <a:pt x="76200" y="0"/>
                </a:lnTo>
                <a:arcTo hR="76200" wR="25400" stAng="16200000" swAng="-5400000"/>
                <a:lnTo>
                  <a:pt x="50800" y="488950"/>
                </a:lnTo>
                <a:arcTo hR="76200" wR="25400" stAng="10800000" swAng="-5400000"/>
                <a:close/>
              </a:path>
            </a:pathLst>
          </a:custGeom>
          <a:solidFill>
            <a:srgbClr val="FFC233"/>
          </a:solidFill>
          <a:ln/>
        </p:spPr>
      </p:sp>
      <p:sp>
        <p:nvSpPr>
          <p:cNvPr id="23" name="Text 21"/>
          <p:cNvSpPr/>
          <p:nvPr/>
        </p:nvSpPr>
        <p:spPr>
          <a:xfrm>
            <a:off x="990600" y="4032250"/>
            <a:ext cx="476148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F5FF"/>
                </a:solidFill>
                <a:latin typeface="Cairo" pitchFamily="34" charset="0"/>
                <a:ea typeface="Cairo" pitchFamily="34" charset="-122"/>
                <a:cs typeface="Cairo" pitchFamily="34" charset="-120"/>
              </a:rPr>
              <a:t>5 · Influencer ads do not pay back</a:t>
            </a:r>
            <a:endParaRPr lang="en-US" sz="1300" dirty="0"/>
          </a:p>
        </p:txBody>
      </p:sp>
      <p:sp>
        <p:nvSpPr>
          <p:cNvPr id="24" name="Text 22"/>
          <p:cNvSpPr/>
          <p:nvPr/>
        </p:nvSpPr>
        <p:spPr>
          <a:xfrm>
            <a:off x="851916" y="4260850"/>
            <a:ext cx="476148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إعلانات الإنفلونسرز مش بتغطي تكلفتها</a:t>
            </a:r>
            <a:endParaRPr lang="en-US" sz="1200" dirty="0"/>
          </a:p>
        </p:txBody>
      </p:sp>
      <p:sp>
        <p:nvSpPr>
          <p:cNvPr id="25" name="Shape 23"/>
          <p:cNvSpPr/>
          <p:nvPr/>
        </p:nvSpPr>
        <p:spPr>
          <a:xfrm>
            <a:off x="812800" y="4597400"/>
            <a:ext cx="4927600" cy="565150"/>
          </a:xfrm>
          <a:prstGeom prst="roundRect">
            <a:avLst>
              <a:gd name="adj" fmla="val 13483"/>
            </a:avLst>
          </a:prstGeom>
          <a:solidFill>
            <a:srgbClr val="0E1745"/>
          </a:solidFill>
          <a:ln/>
        </p:spPr>
      </p:sp>
      <p:sp>
        <p:nvSpPr>
          <p:cNvPr id="26" name="Shape 24"/>
          <p:cNvSpPr/>
          <p:nvPr/>
        </p:nvSpPr>
        <p:spPr>
          <a:xfrm>
            <a:off x="812800" y="4597400"/>
            <a:ext cx="4927600" cy="565150"/>
          </a:xfrm>
          <a:custGeom>
            <a:avLst/>
            <a:gdLst/>
            <a:ahLst/>
            <a:cxnLst/>
            <a:rect l="l" t="t" r="r" b="b"/>
            <a:pathLst>
              <a:path w="4927600" h="565150">
                <a:moveTo>
                  <a:pt x="76200" y="565150"/>
                </a:moveTo>
                <a:lnTo>
                  <a:pt x="76200" y="565150"/>
                </a:lnTo>
                <a:arcTo hR="76200" wR="76200" stAng="5400000" swAng="5400000"/>
                <a:lnTo>
                  <a:pt x="0" y="76200"/>
                </a:lnTo>
                <a:arcTo hR="76200" wR="76200" stAng="10800000" swAng="5400000"/>
                <a:lnTo>
                  <a:pt x="76200" y="0"/>
                </a:lnTo>
                <a:arcTo hR="76200" wR="25400" stAng="16200000" swAng="-5400000"/>
                <a:lnTo>
                  <a:pt x="50800" y="488950"/>
                </a:lnTo>
                <a:arcTo hR="76200" wR="25400" stAng="10800000" swAng="-5400000"/>
                <a:close/>
              </a:path>
            </a:pathLst>
          </a:custGeom>
          <a:solidFill>
            <a:srgbClr val="FFC233"/>
          </a:solidFill>
          <a:ln/>
        </p:spPr>
      </p:sp>
      <p:sp>
        <p:nvSpPr>
          <p:cNvPr id="27" name="Text 25"/>
          <p:cNvSpPr/>
          <p:nvPr/>
        </p:nvSpPr>
        <p:spPr>
          <a:xfrm>
            <a:off x="990600" y="4660900"/>
            <a:ext cx="4761484" cy="2540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F5FF"/>
                </a:solidFill>
                <a:latin typeface="Cairo" pitchFamily="34" charset="0"/>
                <a:ea typeface="Cairo" pitchFamily="34" charset="-122"/>
                <a:cs typeface="Cairo" pitchFamily="34" charset="-120"/>
              </a:rPr>
              <a:t>6 · Cash sits in spare stock</a:t>
            </a:r>
            <a:endParaRPr lang="en-US" sz="1300" dirty="0"/>
          </a:p>
        </p:txBody>
      </p:sp>
      <p:sp>
        <p:nvSpPr>
          <p:cNvPr id="28" name="Text 26"/>
          <p:cNvSpPr/>
          <p:nvPr/>
        </p:nvSpPr>
        <p:spPr>
          <a:xfrm>
            <a:off x="851916" y="4889500"/>
            <a:ext cx="476148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فلوس واقفة في مخزون زيادة</a:t>
            </a:r>
            <a:endParaRPr lang="en-US" sz="1200" dirty="0"/>
          </a:p>
        </p:txBody>
      </p:sp>
      <p:pic>
        <p:nvPicPr>
          <p:cNvPr id="29" name="Image 0" descr="Business Health Check screen showing six ranked problem cards">    </p:cNvPr>
          <p:cNvPicPr>
            <a:picLocks noChangeAspect="1"/>
          </p:cNvPicPr>
          <p:nvPr/>
        </p:nvPicPr>
        <p:blipFill>
          <a:blip r:embed="rId1"/>
          <a:srcRect l="-143" r="-143" t="0" b="0"/>
          <a:stretch/>
        </p:blipFill>
        <p:spPr>
          <a:xfrm>
            <a:off x="6007100" y="1466850"/>
            <a:ext cx="5359400" cy="3340100"/>
          </a:xfrm>
          <a:prstGeom prst="roundRect">
            <a:avLst>
              <a:gd name="adj" fmla="val 2662"/>
            </a:avLst>
          </a:prstGeom>
        </p:spPr>
      </p:pic>
      <p:sp>
        <p:nvSpPr>
          <p:cNvPr id="30" name="Shape 27"/>
          <p:cNvSpPr/>
          <p:nvPr/>
        </p:nvSpPr>
        <p:spPr>
          <a:xfrm>
            <a:off x="6000750" y="1460500"/>
            <a:ext cx="5372100" cy="3352800"/>
          </a:xfrm>
          <a:prstGeom prst="roundRect">
            <a:avLst>
              <a:gd name="adj" fmla="val 2841"/>
            </a:avLst>
          </a:prstGeom>
          <a:noFill/>
          <a:ln w="12700">
            <a:solidFill>
              <a:srgbClr val="2A3A8A"/>
            </a:solidFill>
            <a:prstDash val="solid"/>
          </a:ln>
        </p:spPr>
      </p:sp>
      <p:sp>
        <p:nvSpPr>
          <p:cNvPr id="31" name="Text 28"/>
          <p:cNvSpPr/>
          <p:nvPr/>
        </p:nvSpPr>
        <p:spPr>
          <a:xfrm>
            <a:off x="812800" y="6242050"/>
            <a:ext cx="51927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05 · Red: act now. Amber: fix soon.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4894338"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APP 01 · EXECUTIVE COMMAND CENTER</a:t>
            </a:r>
            <a:endParaRPr lang="en-US" sz="1200" dirty="0"/>
          </a:p>
        </p:txBody>
      </p:sp>
      <p:sp>
        <p:nvSpPr>
          <p:cNvPr id="3" name="Text 1"/>
          <p:cNvSpPr/>
          <p:nvPr>
            <p:ph type="title"/>
          </p:nvPr>
        </p:nvSpPr>
        <p:spPr>
          <a:xfrm>
            <a:off x="812800" y="857250"/>
            <a:ext cx="5702141"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One screen for the CEO</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شاشة واحدة للمدير</a:t>
            </a:r>
            <a:endParaRPr lang="en-US" sz="1800" dirty="0"/>
          </a:p>
        </p:txBody>
      </p:sp>
      <p:sp>
        <p:nvSpPr>
          <p:cNvPr id="5" name="Shape 3"/>
          <p:cNvSpPr/>
          <p:nvPr/>
        </p:nvSpPr>
        <p:spPr>
          <a:xfrm>
            <a:off x="812800" y="1454150"/>
            <a:ext cx="5232400" cy="704850"/>
          </a:xfrm>
          <a:prstGeom prst="roundRect">
            <a:avLst>
              <a:gd name="adj" fmla="val 14414"/>
            </a:avLst>
          </a:prstGeom>
          <a:solidFill>
            <a:srgbClr val="0E1745"/>
          </a:solidFill>
          <a:ln/>
        </p:spPr>
      </p:sp>
      <p:sp>
        <p:nvSpPr>
          <p:cNvPr id="6" name="Shape 4"/>
          <p:cNvSpPr/>
          <p:nvPr/>
        </p:nvSpPr>
        <p:spPr>
          <a:xfrm>
            <a:off x="812800" y="14541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4D5E"/>
          </a:solidFill>
          <a:ln/>
        </p:spPr>
      </p:sp>
      <p:sp>
        <p:nvSpPr>
          <p:cNvPr id="7" name="Text 5"/>
          <p:cNvSpPr/>
          <p:nvPr/>
        </p:nvSpPr>
        <p:spPr>
          <a:xfrm>
            <a:off x="1028700" y="156845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Sales grew 3.3% to EGP 148.3M, but margin is only 15.6%</a:t>
            </a:r>
            <a:endParaRPr lang="en-US" sz="1300" dirty="0"/>
          </a:p>
        </p:txBody>
      </p:sp>
      <p:sp>
        <p:nvSpPr>
          <p:cNvPr id="8" name="Text 6"/>
          <p:cNvSpPr/>
          <p:nvPr/>
        </p:nvSpPr>
        <p:spPr>
          <a:xfrm>
            <a:off x="883158" y="1816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المبيعات زادت 3.3% لتصل 148.3 مليون جنيه لكن الهامش 15.6% فقط</a:t>
            </a:r>
            <a:endParaRPr lang="en-US" sz="1200" dirty="0"/>
          </a:p>
        </p:txBody>
      </p:sp>
      <p:sp>
        <p:nvSpPr>
          <p:cNvPr id="9" name="Shape 7"/>
          <p:cNvSpPr/>
          <p:nvPr/>
        </p:nvSpPr>
        <p:spPr>
          <a:xfrm>
            <a:off x="812800" y="2260600"/>
            <a:ext cx="5232400" cy="914400"/>
          </a:xfrm>
          <a:prstGeom prst="roundRect">
            <a:avLst>
              <a:gd name="adj" fmla="val 11111"/>
            </a:avLst>
          </a:prstGeom>
          <a:solidFill>
            <a:srgbClr val="0E1745"/>
          </a:solidFill>
          <a:ln/>
        </p:spPr>
      </p:sp>
      <p:sp>
        <p:nvSpPr>
          <p:cNvPr id="10" name="Shape 8"/>
          <p:cNvSpPr/>
          <p:nvPr/>
        </p:nvSpPr>
        <p:spPr>
          <a:xfrm>
            <a:off x="812800" y="2260600"/>
            <a:ext cx="5232400" cy="914400"/>
          </a:xfrm>
          <a:custGeom>
            <a:avLst/>
            <a:gdLst/>
            <a:ahLst/>
            <a:cxnLst/>
            <a:rect l="l" t="t" r="r" b="b"/>
            <a:pathLst>
              <a:path w="52324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FFC233"/>
          </a:solidFill>
          <a:ln/>
        </p:spPr>
      </p:sp>
      <p:sp>
        <p:nvSpPr>
          <p:cNvPr id="11" name="Text 9"/>
          <p:cNvSpPr/>
          <p:nvPr/>
        </p:nvSpPr>
        <p:spPr>
          <a:xfrm>
            <a:off x="1028700" y="2374900"/>
            <a:ext cx="499694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Q4 forecast EGP 35.1M, 5.1% below last year (error 4–11% by channel)</a:t>
            </a:r>
            <a:endParaRPr lang="en-US" sz="1300" dirty="0"/>
          </a:p>
        </p:txBody>
      </p:sp>
      <p:sp>
        <p:nvSpPr>
          <p:cNvPr id="12" name="Text 10"/>
          <p:cNvSpPr/>
          <p:nvPr/>
        </p:nvSpPr>
        <p:spPr>
          <a:xfrm>
            <a:off x="883158" y="2832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توقع الربع الأخير 35.1 مليون جنيه بانخفاض 5.1% عن السنة الماضية</a:t>
            </a:r>
            <a:endParaRPr lang="en-US" sz="1200" dirty="0"/>
          </a:p>
        </p:txBody>
      </p:sp>
      <p:sp>
        <p:nvSpPr>
          <p:cNvPr id="13" name="Shape 11"/>
          <p:cNvSpPr/>
          <p:nvPr/>
        </p:nvSpPr>
        <p:spPr>
          <a:xfrm>
            <a:off x="812800" y="3276600"/>
            <a:ext cx="5232400" cy="704850"/>
          </a:xfrm>
          <a:prstGeom prst="roundRect">
            <a:avLst>
              <a:gd name="adj" fmla="val 14414"/>
            </a:avLst>
          </a:prstGeom>
          <a:solidFill>
            <a:srgbClr val="0E1745"/>
          </a:solidFill>
          <a:ln/>
        </p:spPr>
      </p:sp>
      <p:sp>
        <p:nvSpPr>
          <p:cNvPr id="14" name="Shape 12"/>
          <p:cNvSpPr/>
          <p:nvPr/>
        </p:nvSpPr>
        <p:spPr>
          <a:xfrm>
            <a:off x="812800" y="327660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2DD4BF"/>
          </a:solidFill>
          <a:ln/>
        </p:spPr>
      </p:sp>
      <p:sp>
        <p:nvSpPr>
          <p:cNvPr id="15" name="Text 13"/>
          <p:cNvSpPr/>
          <p:nvPr/>
        </p:nvSpPr>
        <p:spPr>
          <a:xfrm>
            <a:off x="1028700" y="339090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Six decisions on one page; each opens the app that explains it</a:t>
            </a:r>
            <a:endParaRPr lang="en-US" sz="1300" dirty="0"/>
          </a:p>
        </p:txBody>
      </p:sp>
      <p:sp>
        <p:nvSpPr>
          <p:cNvPr id="16" name="Text 14"/>
          <p:cNvSpPr/>
          <p:nvPr/>
        </p:nvSpPr>
        <p:spPr>
          <a:xfrm>
            <a:off x="883158" y="36385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ست قرارات في صفحة واحدة وكل قرار يفتح التطبيق المسؤول عنه</a:t>
            </a:r>
            <a:endParaRPr lang="en-US" sz="1200" dirty="0"/>
          </a:p>
        </p:txBody>
      </p:sp>
      <p:pic>
        <p:nvPicPr>
          <p:cNvPr id="17" name="Image 0" descr="App 01 Executive Command Center screen with KPIs and sales chart">    </p:cNvPr>
          <p:cNvPicPr>
            <a:picLocks noChangeAspect="1"/>
          </p:cNvPicPr>
          <p:nvPr/>
        </p:nvPicPr>
        <p:blipFill>
          <a:blip r:embed="rId1"/>
          <a:srcRect l="-151" r="-151" t="0" b="0"/>
          <a:stretch/>
        </p:blipFill>
        <p:spPr>
          <a:xfrm>
            <a:off x="6311900" y="1466850"/>
            <a:ext cx="5054600" cy="3149600"/>
          </a:xfrm>
          <a:prstGeom prst="roundRect">
            <a:avLst>
              <a:gd name="adj" fmla="val 2823"/>
            </a:avLst>
          </a:prstGeom>
        </p:spPr>
      </p:pic>
      <p:sp>
        <p:nvSpPr>
          <p:cNvPr id="18" name="Shape 15"/>
          <p:cNvSpPr/>
          <p:nvPr/>
        </p:nvSpPr>
        <p:spPr>
          <a:xfrm>
            <a:off x="6305550" y="1460500"/>
            <a:ext cx="5067300" cy="3162300"/>
          </a:xfrm>
          <a:prstGeom prst="roundRect">
            <a:avLst>
              <a:gd name="adj" fmla="val 3012"/>
            </a:avLst>
          </a:prstGeom>
          <a:noFill/>
          <a:ln w="12700">
            <a:solidFill>
              <a:srgbClr val="2A3A8A"/>
            </a:solidFill>
            <a:prstDash val="solid"/>
          </a:ln>
        </p:spPr>
      </p:sp>
      <p:sp>
        <p:nvSpPr>
          <p:cNvPr id="19" name="Text 16"/>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6906768"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APP 02 · SMART INVENTORY</a:t>
            </a:r>
            <a:endParaRPr lang="en-US" sz="1200" dirty="0"/>
          </a:p>
        </p:txBody>
      </p:sp>
      <p:sp>
        <p:nvSpPr>
          <p:cNvPr id="3" name="Text 1"/>
          <p:cNvSpPr/>
          <p:nvPr>
            <p:ph type="title"/>
          </p:nvPr>
        </p:nvSpPr>
        <p:spPr>
          <a:xfrm>
            <a:off x="812800" y="857250"/>
            <a:ext cx="6906768"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Short in wholesale, long elsewhere</a:t>
            </a:r>
            <a:endParaRPr lang="en-US" sz="3000" dirty="0"/>
          </a:p>
        </p:txBody>
      </p:sp>
      <p:sp>
        <p:nvSpPr>
          <p:cNvPr id="4" name="Text 2"/>
          <p:cNvSpPr/>
          <p:nvPr/>
        </p:nvSpPr>
        <p:spPr>
          <a:xfrm>
            <a:off x="7716520" y="14033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ناقص في الجملة وزيادة في الباقي</a:t>
            </a:r>
            <a:endParaRPr lang="en-US" sz="1800" dirty="0"/>
          </a:p>
        </p:txBody>
      </p:sp>
      <p:sp>
        <p:nvSpPr>
          <p:cNvPr id="5" name="Shape 3"/>
          <p:cNvSpPr/>
          <p:nvPr/>
        </p:nvSpPr>
        <p:spPr>
          <a:xfrm>
            <a:off x="812800" y="1873250"/>
            <a:ext cx="5232400" cy="914400"/>
          </a:xfrm>
          <a:prstGeom prst="roundRect">
            <a:avLst>
              <a:gd name="adj" fmla="val 11111"/>
            </a:avLst>
          </a:prstGeom>
          <a:solidFill>
            <a:srgbClr val="0E1745"/>
          </a:solidFill>
          <a:ln/>
        </p:spPr>
      </p:sp>
      <p:sp>
        <p:nvSpPr>
          <p:cNvPr id="6" name="Shape 4"/>
          <p:cNvSpPr/>
          <p:nvPr/>
        </p:nvSpPr>
        <p:spPr>
          <a:xfrm>
            <a:off x="812800" y="1873250"/>
            <a:ext cx="5232400" cy="914400"/>
          </a:xfrm>
          <a:custGeom>
            <a:avLst/>
            <a:gdLst/>
            <a:ahLst/>
            <a:cxnLst/>
            <a:rect l="l" t="t" r="r" b="b"/>
            <a:pathLst>
              <a:path w="52324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FF4D5E"/>
          </a:solidFill>
          <a:ln/>
        </p:spPr>
      </p:sp>
      <p:sp>
        <p:nvSpPr>
          <p:cNvPr id="7" name="Text 5"/>
          <p:cNvSpPr/>
          <p:nvPr/>
        </p:nvSpPr>
        <p:spPr>
          <a:xfrm>
            <a:off x="1028700" y="1987550"/>
            <a:ext cx="499694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43 of 59 wholesale products are below reorder point; stockout days rose 3.7x</a:t>
            </a:r>
            <a:endParaRPr lang="en-US" sz="1300" dirty="0"/>
          </a:p>
        </p:txBody>
      </p:sp>
      <p:sp>
        <p:nvSpPr>
          <p:cNvPr id="8" name="Text 6"/>
          <p:cNvSpPr/>
          <p:nvPr/>
        </p:nvSpPr>
        <p:spPr>
          <a:xfrm>
            <a:off x="883158" y="24447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43 من 59 منتج جملة تحت نقطة إعادة الطلب وأيام النفاد زادت 3.7 مرة</a:t>
            </a:r>
            <a:endParaRPr lang="en-US" sz="1200" dirty="0"/>
          </a:p>
        </p:txBody>
      </p:sp>
      <p:sp>
        <p:nvSpPr>
          <p:cNvPr id="9" name="Shape 7"/>
          <p:cNvSpPr/>
          <p:nvPr/>
        </p:nvSpPr>
        <p:spPr>
          <a:xfrm>
            <a:off x="812800" y="2889250"/>
            <a:ext cx="5232400" cy="704850"/>
          </a:xfrm>
          <a:prstGeom prst="roundRect">
            <a:avLst>
              <a:gd name="adj" fmla="val 14414"/>
            </a:avLst>
          </a:prstGeom>
          <a:solidFill>
            <a:srgbClr val="0E1745"/>
          </a:solidFill>
          <a:ln/>
        </p:spPr>
      </p:sp>
      <p:sp>
        <p:nvSpPr>
          <p:cNvPr id="10" name="Shape 8"/>
          <p:cNvSpPr/>
          <p:nvPr/>
        </p:nvSpPr>
        <p:spPr>
          <a:xfrm>
            <a:off x="812800" y="28892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C233"/>
          </a:solidFill>
          <a:ln/>
        </p:spPr>
      </p:sp>
      <p:sp>
        <p:nvSpPr>
          <p:cNvPr id="11" name="Text 9"/>
          <p:cNvSpPr/>
          <p:nvPr/>
        </p:nvSpPr>
        <p:spPr>
          <a:xfrm>
            <a:off x="1028700" y="3003550"/>
            <a:ext cx="50165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Retail and online hold 28,313 excess units (EGP 5.4M at retail value)</a:t>
            </a:r>
            <a:endParaRPr lang="en-US" sz="1300" dirty="0"/>
          </a:p>
        </p:txBody>
      </p:sp>
      <p:sp>
        <p:nvSpPr>
          <p:cNvPr id="12" name="Text 10"/>
          <p:cNvSpPr/>
          <p:nvPr/>
        </p:nvSpPr>
        <p:spPr>
          <a:xfrm>
            <a:off x="883158" y="32512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التجزئة والأونلاين معاهم 28,313 وحدة زيادة بقيمة 5.4 مليون جنيه</a:t>
            </a:r>
            <a:endParaRPr lang="en-US" sz="1200" dirty="0"/>
          </a:p>
        </p:txBody>
      </p:sp>
      <p:sp>
        <p:nvSpPr>
          <p:cNvPr id="13" name="Shape 11"/>
          <p:cNvSpPr/>
          <p:nvPr/>
        </p:nvSpPr>
        <p:spPr>
          <a:xfrm>
            <a:off x="812800" y="3695700"/>
            <a:ext cx="5232400" cy="914400"/>
          </a:xfrm>
          <a:prstGeom prst="roundRect">
            <a:avLst>
              <a:gd name="adj" fmla="val 11111"/>
            </a:avLst>
          </a:prstGeom>
          <a:solidFill>
            <a:srgbClr val="0E1745"/>
          </a:solidFill>
          <a:ln/>
        </p:spPr>
      </p:sp>
      <p:sp>
        <p:nvSpPr>
          <p:cNvPr id="14" name="Shape 12"/>
          <p:cNvSpPr/>
          <p:nvPr/>
        </p:nvSpPr>
        <p:spPr>
          <a:xfrm>
            <a:off x="812800" y="3695700"/>
            <a:ext cx="5232400" cy="914400"/>
          </a:xfrm>
          <a:custGeom>
            <a:avLst/>
            <a:gdLst/>
            <a:ahLst/>
            <a:cxnLst/>
            <a:rect l="l" t="t" r="r" b="b"/>
            <a:pathLst>
              <a:path w="52324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2DD4BF"/>
          </a:solidFill>
          <a:ln/>
        </p:spPr>
      </p:sp>
      <p:sp>
        <p:nvSpPr>
          <p:cNvPr id="15" name="Text 13"/>
          <p:cNvSpPr/>
          <p:nvPr/>
        </p:nvSpPr>
        <p:spPr>
          <a:xfrm>
            <a:off x="1028700" y="3810000"/>
            <a:ext cx="499694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Order 62,524 units; queue the products and generate the purchase order</a:t>
            </a:r>
            <a:endParaRPr lang="en-US" sz="1300" dirty="0"/>
          </a:p>
        </p:txBody>
      </p:sp>
      <p:sp>
        <p:nvSpPr>
          <p:cNvPr id="16" name="Text 14"/>
          <p:cNvSpPr/>
          <p:nvPr/>
        </p:nvSpPr>
        <p:spPr>
          <a:xfrm>
            <a:off x="883158" y="42672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اطلب 62,524 وحدة واختار المنتجات واطلع أمر الشراء</a:t>
            </a:r>
            <a:endParaRPr lang="en-US" sz="1200" dirty="0"/>
          </a:p>
        </p:txBody>
      </p:sp>
      <p:pic>
        <p:nvPicPr>
          <p:cNvPr id="17" name="Image 0" descr="App 02 replenishment table with reorder suggestions and stock by family chart">    </p:cNvPr>
          <p:cNvPicPr>
            <a:picLocks noChangeAspect="1"/>
          </p:cNvPicPr>
          <p:nvPr/>
        </p:nvPicPr>
        <p:blipFill>
          <a:blip r:embed="rId1"/>
          <a:srcRect l="-151" r="-151" t="0" b="0"/>
          <a:stretch/>
        </p:blipFill>
        <p:spPr>
          <a:xfrm>
            <a:off x="6311900" y="1885950"/>
            <a:ext cx="5054600" cy="3149600"/>
          </a:xfrm>
          <a:prstGeom prst="roundRect">
            <a:avLst>
              <a:gd name="adj" fmla="val 2823"/>
            </a:avLst>
          </a:prstGeom>
        </p:spPr>
      </p:pic>
      <p:sp>
        <p:nvSpPr>
          <p:cNvPr id="18" name="Shape 15"/>
          <p:cNvSpPr/>
          <p:nvPr/>
        </p:nvSpPr>
        <p:spPr>
          <a:xfrm>
            <a:off x="6305550" y="1879600"/>
            <a:ext cx="5067300" cy="3162300"/>
          </a:xfrm>
          <a:prstGeom prst="roundRect">
            <a:avLst>
              <a:gd name="adj" fmla="val 3012"/>
            </a:avLst>
          </a:prstGeom>
          <a:noFill/>
          <a:ln w="12700">
            <a:solidFill>
              <a:srgbClr val="2A3A8A"/>
            </a:solidFill>
            <a:prstDash val="solid"/>
          </a:ln>
        </p:spPr>
      </p:sp>
      <p:sp>
        <p:nvSpPr>
          <p:cNvPr id="19" name="Text 16"/>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6199576"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APP 03 · CUSTOMER 360 AND RETENTION</a:t>
            </a:r>
            <a:endParaRPr lang="en-US" sz="1200" dirty="0"/>
          </a:p>
        </p:txBody>
      </p:sp>
      <p:sp>
        <p:nvSpPr>
          <p:cNvPr id="3" name="Text 1"/>
          <p:cNvSpPr/>
          <p:nvPr>
            <p:ph type="title"/>
          </p:nvPr>
        </p:nvSpPr>
        <p:spPr>
          <a:xfrm>
            <a:off x="812800" y="857250"/>
            <a:ext cx="690372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Many at risk, weak prediction</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عملاء كتير في خطر والتنبؤ ضعيف</a:t>
            </a:r>
            <a:endParaRPr lang="en-US" sz="1800" dirty="0"/>
          </a:p>
        </p:txBody>
      </p:sp>
      <p:sp>
        <p:nvSpPr>
          <p:cNvPr id="5" name="Shape 3"/>
          <p:cNvSpPr/>
          <p:nvPr/>
        </p:nvSpPr>
        <p:spPr>
          <a:xfrm>
            <a:off x="812800" y="1454150"/>
            <a:ext cx="5232400" cy="704850"/>
          </a:xfrm>
          <a:prstGeom prst="roundRect">
            <a:avLst>
              <a:gd name="adj" fmla="val 14414"/>
            </a:avLst>
          </a:prstGeom>
          <a:solidFill>
            <a:srgbClr val="0E1745"/>
          </a:solidFill>
          <a:ln/>
        </p:spPr>
      </p:sp>
      <p:sp>
        <p:nvSpPr>
          <p:cNvPr id="6" name="Shape 4"/>
          <p:cNvSpPr/>
          <p:nvPr/>
        </p:nvSpPr>
        <p:spPr>
          <a:xfrm>
            <a:off x="812800" y="14541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4D5E"/>
          </a:solidFill>
          <a:ln/>
        </p:spPr>
      </p:sp>
      <p:sp>
        <p:nvSpPr>
          <p:cNvPr id="7" name="Text 5"/>
          <p:cNvSpPr/>
          <p:nvPr/>
        </p:nvSpPr>
        <p:spPr>
          <a:xfrm>
            <a:off x="1028700" y="156845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5,631 at-risk buyers hold 36.5% of retail revenue</a:t>
            </a:r>
            <a:endParaRPr lang="en-US" sz="1300" dirty="0"/>
          </a:p>
        </p:txBody>
      </p:sp>
      <p:sp>
        <p:nvSpPr>
          <p:cNvPr id="8" name="Text 6"/>
          <p:cNvSpPr/>
          <p:nvPr/>
        </p:nvSpPr>
        <p:spPr>
          <a:xfrm>
            <a:off x="883158" y="1816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5,631 عميل في خطر وعندهم 36.5% من إيراد التجزئة</a:t>
            </a:r>
            <a:endParaRPr lang="en-US" sz="1200" dirty="0"/>
          </a:p>
        </p:txBody>
      </p:sp>
      <p:sp>
        <p:nvSpPr>
          <p:cNvPr id="9" name="Shape 7"/>
          <p:cNvSpPr/>
          <p:nvPr/>
        </p:nvSpPr>
        <p:spPr>
          <a:xfrm>
            <a:off x="812800" y="2260600"/>
            <a:ext cx="5232400" cy="914400"/>
          </a:xfrm>
          <a:prstGeom prst="roundRect">
            <a:avLst>
              <a:gd name="adj" fmla="val 11111"/>
            </a:avLst>
          </a:prstGeom>
          <a:solidFill>
            <a:srgbClr val="0E1745"/>
          </a:solidFill>
          <a:ln/>
        </p:spPr>
      </p:sp>
      <p:sp>
        <p:nvSpPr>
          <p:cNvPr id="10" name="Shape 8"/>
          <p:cNvSpPr/>
          <p:nvPr/>
        </p:nvSpPr>
        <p:spPr>
          <a:xfrm>
            <a:off x="812800" y="2260600"/>
            <a:ext cx="5232400" cy="914400"/>
          </a:xfrm>
          <a:custGeom>
            <a:avLst/>
            <a:gdLst/>
            <a:ahLst/>
            <a:cxnLst/>
            <a:rect l="l" t="t" r="r" b="b"/>
            <a:pathLst>
              <a:path w="52324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FFC233"/>
          </a:solidFill>
          <a:ln/>
        </p:spPr>
      </p:sp>
      <p:sp>
        <p:nvSpPr>
          <p:cNvPr id="11" name="Text 9"/>
          <p:cNvSpPr/>
          <p:nvPr/>
        </p:nvSpPr>
        <p:spPr>
          <a:xfrm>
            <a:off x="1028700" y="2374900"/>
            <a:ext cx="499694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Repurchase is 39–41% in every segment; the model scores AUC 0.51, close to a coin flip</a:t>
            </a:r>
            <a:endParaRPr lang="en-US" sz="1300" dirty="0"/>
          </a:p>
        </p:txBody>
      </p:sp>
      <p:sp>
        <p:nvSpPr>
          <p:cNvPr id="12" name="Text 10"/>
          <p:cNvSpPr/>
          <p:nvPr/>
        </p:nvSpPr>
        <p:spPr>
          <a:xfrm>
            <a:off x="883158" y="2832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إعادة الشراء 39 إلى 41% في كل الشرايح والنموذج قريب من العشوائي</a:t>
            </a:r>
            <a:endParaRPr lang="en-US" sz="1200" dirty="0"/>
          </a:p>
        </p:txBody>
      </p:sp>
      <p:sp>
        <p:nvSpPr>
          <p:cNvPr id="13" name="Shape 11"/>
          <p:cNvSpPr/>
          <p:nvPr/>
        </p:nvSpPr>
        <p:spPr>
          <a:xfrm>
            <a:off x="812800" y="3276600"/>
            <a:ext cx="5232400" cy="704850"/>
          </a:xfrm>
          <a:prstGeom prst="roundRect">
            <a:avLst>
              <a:gd name="adj" fmla="val 14414"/>
            </a:avLst>
          </a:prstGeom>
          <a:solidFill>
            <a:srgbClr val="0E1745"/>
          </a:solidFill>
          <a:ln/>
        </p:spPr>
      </p:sp>
      <p:sp>
        <p:nvSpPr>
          <p:cNvPr id="14" name="Shape 12"/>
          <p:cNvSpPr/>
          <p:nvPr/>
        </p:nvSpPr>
        <p:spPr>
          <a:xfrm>
            <a:off x="812800" y="327660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2DD4BF"/>
          </a:solidFill>
          <a:ln/>
        </p:spPr>
      </p:sp>
      <p:sp>
        <p:nvSpPr>
          <p:cNvPr id="15" name="Text 13"/>
          <p:cNvSpPr/>
          <p:nvPr/>
        </p:nvSpPr>
        <p:spPr>
          <a:xfrm>
            <a:off x="1028700" y="339090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Run win-back as a test: 80% get the offer, 20% held out</a:t>
            </a:r>
            <a:endParaRPr lang="en-US" sz="1300" dirty="0"/>
          </a:p>
        </p:txBody>
      </p:sp>
      <p:sp>
        <p:nvSpPr>
          <p:cNvPr id="16" name="Text 14"/>
          <p:cNvSpPr/>
          <p:nvPr/>
        </p:nvSpPr>
        <p:spPr>
          <a:xfrm>
            <a:off x="883158" y="36385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جرّب الاسترجاع كاختبار 80% ياخدوا العرض و20% مجموعة مقارنة</a:t>
            </a:r>
            <a:endParaRPr lang="en-US" sz="1200" dirty="0"/>
          </a:p>
        </p:txBody>
      </p:sp>
      <p:pic>
        <p:nvPicPr>
          <p:cNvPr id="17" name="Image 0" descr="App 03 customer segments and retention screen">    </p:cNvPr>
          <p:cNvPicPr>
            <a:picLocks noChangeAspect="1"/>
          </p:cNvPicPr>
          <p:nvPr/>
        </p:nvPicPr>
        <p:blipFill>
          <a:blip r:embed="rId1"/>
          <a:srcRect l="-151" r="-151" t="0" b="0"/>
          <a:stretch/>
        </p:blipFill>
        <p:spPr>
          <a:xfrm>
            <a:off x="6311900" y="1466850"/>
            <a:ext cx="5054600" cy="3149600"/>
          </a:xfrm>
          <a:prstGeom prst="roundRect">
            <a:avLst>
              <a:gd name="adj" fmla="val 2823"/>
            </a:avLst>
          </a:prstGeom>
        </p:spPr>
      </p:pic>
      <p:sp>
        <p:nvSpPr>
          <p:cNvPr id="18" name="Shape 15"/>
          <p:cNvSpPr/>
          <p:nvPr/>
        </p:nvSpPr>
        <p:spPr>
          <a:xfrm>
            <a:off x="6305550" y="1460500"/>
            <a:ext cx="5067300" cy="3162300"/>
          </a:xfrm>
          <a:prstGeom prst="roundRect">
            <a:avLst>
              <a:gd name="adj" fmla="val 3012"/>
            </a:avLst>
          </a:prstGeom>
          <a:noFill/>
          <a:ln w="12700">
            <a:solidFill>
              <a:srgbClr val="2A3A8A"/>
            </a:solidFill>
            <a:prstDash val="solid"/>
          </a:ln>
        </p:spPr>
      </p:sp>
      <p:sp>
        <p:nvSpPr>
          <p:cNvPr id="19" name="Text 16"/>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4919580"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APP 04 · FACTORY DIGITAL TWIN</a:t>
            </a:r>
            <a:endParaRPr lang="en-US" sz="1200" dirty="0"/>
          </a:p>
        </p:txBody>
      </p:sp>
      <p:sp>
        <p:nvSpPr>
          <p:cNvPr id="3" name="Text 1"/>
          <p:cNvSpPr/>
          <p:nvPr>
            <p:ph type="title"/>
          </p:nvPr>
        </p:nvSpPr>
        <p:spPr>
          <a:xfrm>
            <a:off x="812800" y="857250"/>
            <a:ext cx="573155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Where orders lose time</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فين الأوردرات بتضيع وقت</a:t>
            </a:r>
            <a:endParaRPr lang="en-US" sz="1800" dirty="0"/>
          </a:p>
        </p:txBody>
      </p:sp>
      <p:sp>
        <p:nvSpPr>
          <p:cNvPr id="5" name="Shape 3"/>
          <p:cNvSpPr/>
          <p:nvPr/>
        </p:nvSpPr>
        <p:spPr>
          <a:xfrm>
            <a:off x="812800" y="1454150"/>
            <a:ext cx="5232400" cy="704850"/>
          </a:xfrm>
          <a:prstGeom prst="roundRect">
            <a:avLst>
              <a:gd name="adj" fmla="val 14414"/>
            </a:avLst>
          </a:prstGeom>
          <a:solidFill>
            <a:srgbClr val="0E1745"/>
          </a:solidFill>
          <a:ln/>
        </p:spPr>
      </p:sp>
      <p:sp>
        <p:nvSpPr>
          <p:cNvPr id="6" name="Shape 4"/>
          <p:cNvSpPr/>
          <p:nvPr/>
        </p:nvSpPr>
        <p:spPr>
          <a:xfrm>
            <a:off x="812800" y="14541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4D5E"/>
          </a:solidFill>
          <a:ln/>
        </p:spPr>
      </p:sp>
      <p:sp>
        <p:nvSpPr>
          <p:cNvPr id="7" name="Text 5"/>
          <p:cNvSpPr/>
          <p:nvPr/>
        </p:nvSpPr>
        <p:spPr>
          <a:xfrm>
            <a:off x="1028700" y="156845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16.3% of orders finish late</a:t>
            </a:r>
            <a:endParaRPr lang="en-US" sz="1300" dirty="0"/>
          </a:p>
        </p:txBody>
      </p:sp>
      <p:sp>
        <p:nvSpPr>
          <p:cNvPr id="8" name="Text 6"/>
          <p:cNvSpPr/>
          <p:nvPr/>
        </p:nvSpPr>
        <p:spPr>
          <a:xfrm>
            <a:off x="883158" y="1816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16.3% من الأوردرات بتخلص متأخرة</a:t>
            </a:r>
            <a:endParaRPr lang="en-US" sz="1200" dirty="0"/>
          </a:p>
        </p:txBody>
      </p:sp>
      <p:sp>
        <p:nvSpPr>
          <p:cNvPr id="9" name="Shape 7"/>
          <p:cNvSpPr/>
          <p:nvPr/>
        </p:nvSpPr>
        <p:spPr>
          <a:xfrm>
            <a:off x="812800" y="2260600"/>
            <a:ext cx="5232400" cy="704850"/>
          </a:xfrm>
          <a:prstGeom prst="roundRect">
            <a:avLst>
              <a:gd name="adj" fmla="val 14414"/>
            </a:avLst>
          </a:prstGeom>
          <a:solidFill>
            <a:srgbClr val="0E1745"/>
          </a:solidFill>
          <a:ln/>
        </p:spPr>
      </p:sp>
      <p:sp>
        <p:nvSpPr>
          <p:cNvPr id="10" name="Shape 8"/>
          <p:cNvSpPr/>
          <p:nvPr/>
        </p:nvSpPr>
        <p:spPr>
          <a:xfrm>
            <a:off x="812800" y="226060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C233"/>
          </a:solidFill>
          <a:ln/>
        </p:spPr>
      </p:sp>
      <p:sp>
        <p:nvSpPr>
          <p:cNvPr id="11" name="Text 9"/>
          <p:cNvSpPr/>
          <p:nvPr/>
        </p:nvSpPr>
        <p:spPr>
          <a:xfrm>
            <a:off x="1028700" y="237490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Sewing is the biggest bottleneck: 134 late orders, 945 delay days</a:t>
            </a:r>
            <a:endParaRPr lang="en-US" sz="1300" dirty="0"/>
          </a:p>
        </p:txBody>
      </p:sp>
      <p:sp>
        <p:nvSpPr>
          <p:cNvPr id="12" name="Text 10"/>
          <p:cNvSpPr/>
          <p:nvPr/>
        </p:nvSpPr>
        <p:spPr>
          <a:xfrm>
            <a:off x="883158" y="26225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الخياطة أكبر اختناق 134 أوردر متأخر و945 يوم تأخير</a:t>
            </a:r>
            <a:endParaRPr lang="en-US" sz="1200" dirty="0"/>
          </a:p>
        </p:txBody>
      </p:sp>
      <p:sp>
        <p:nvSpPr>
          <p:cNvPr id="13" name="Shape 11"/>
          <p:cNvSpPr/>
          <p:nvPr/>
        </p:nvSpPr>
        <p:spPr>
          <a:xfrm>
            <a:off x="812800" y="3067050"/>
            <a:ext cx="5232400" cy="704850"/>
          </a:xfrm>
          <a:prstGeom prst="roundRect">
            <a:avLst>
              <a:gd name="adj" fmla="val 14414"/>
            </a:avLst>
          </a:prstGeom>
          <a:solidFill>
            <a:srgbClr val="0E1745"/>
          </a:solidFill>
          <a:ln/>
        </p:spPr>
      </p:sp>
      <p:sp>
        <p:nvSpPr>
          <p:cNvPr id="14" name="Shape 12"/>
          <p:cNvSpPr/>
          <p:nvPr/>
        </p:nvSpPr>
        <p:spPr>
          <a:xfrm>
            <a:off x="812800" y="30670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2DD4BF"/>
          </a:solidFill>
          <a:ln/>
        </p:spPr>
      </p:sp>
      <p:sp>
        <p:nvSpPr>
          <p:cNvPr id="15" name="Text 13"/>
          <p:cNvSpPr/>
          <p:nvPr/>
        </p:nvSpPr>
        <p:spPr>
          <a:xfrm>
            <a:off x="1028700" y="318135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Add capacity or a second shift at sewing first, then re-measure</a:t>
            </a:r>
            <a:endParaRPr lang="en-US" sz="1300" dirty="0"/>
          </a:p>
        </p:txBody>
      </p:sp>
      <p:sp>
        <p:nvSpPr>
          <p:cNvPr id="16" name="Text 14"/>
          <p:cNvSpPr/>
          <p:nvPr/>
        </p:nvSpPr>
        <p:spPr>
          <a:xfrm>
            <a:off x="883158" y="34290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زوّد طاقة الخياطة أو وردية تانية الأول وبعدين قيس تاني</a:t>
            </a:r>
            <a:endParaRPr lang="en-US" sz="1200" dirty="0"/>
          </a:p>
        </p:txBody>
      </p:sp>
      <p:pic>
        <p:nvPicPr>
          <p:cNvPr id="17" name="Image 0" descr="App 04 factory delays by stage screen">    </p:cNvPr>
          <p:cNvPicPr>
            <a:picLocks noChangeAspect="1"/>
          </p:cNvPicPr>
          <p:nvPr/>
        </p:nvPicPr>
        <p:blipFill>
          <a:blip r:embed="rId1"/>
          <a:srcRect l="-151" r="-151" t="0" b="0"/>
          <a:stretch/>
        </p:blipFill>
        <p:spPr>
          <a:xfrm>
            <a:off x="6311900" y="1466850"/>
            <a:ext cx="5054600" cy="3149600"/>
          </a:xfrm>
          <a:prstGeom prst="roundRect">
            <a:avLst>
              <a:gd name="adj" fmla="val 2823"/>
            </a:avLst>
          </a:prstGeom>
        </p:spPr>
      </p:pic>
      <p:sp>
        <p:nvSpPr>
          <p:cNvPr id="18" name="Shape 15"/>
          <p:cNvSpPr/>
          <p:nvPr/>
        </p:nvSpPr>
        <p:spPr>
          <a:xfrm>
            <a:off x="6305550" y="1460500"/>
            <a:ext cx="5067300" cy="3162300"/>
          </a:xfrm>
          <a:prstGeom prst="roundRect">
            <a:avLst>
              <a:gd name="adj" fmla="val 3012"/>
            </a:avLst>
          </a:prstGeom>
          <a:noFill/>
          <a:ln w="12700">
            <a:solidFill>
              <a:srgbClr val="2A3A8A"/>
            </a:solidFill>
            <a:prstDash val="solid"/>
          </a:ln>
        </p:spPr>
      </p:sp>
      <p:sp>
        <p:nvSpPr>
          <p:cNvPr id="19" name="Text 16"/>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6623687"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APP 05 · MARKETING ATTRIBUTION</a:t>
            </a:r>
            <a:endParaRPr lang="en-US" sz="1200" dirty="0"/>
          </a:p>
        </p:txBody>
      </p:sp>
      <p:sp>
        <p:nvSpPr>
          <p:cNvPr id="3" name="Text 1"/>
          <p:cNvSpPr/>
          <p:nvPr>
            <p:ph type="title"/>
          </p:nvPr>
        </p:nvSpPr>
        <p:spPr>
          <a:xfrm>
            <a:off x="812800" y="857250"/>
            <a:ext cx="690372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Move money to what pays back</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انقل الميزانية لللي بيرجّع فلوسه</a:t>
            </a:r>
            <a:endParaRPr lang="en-US" sz="1800" dirty="0"/>
          </a:p>
        </p:txBody>
      </p:sp>
      <p:sp>
        <p:nvSpPr>
          <p:cNvPr id="5" name="Shape 3"/>
          <p:cNvSpPr/>
          <p:nvPr/>
        </p:nvSpPr>
        <p:spPr>
          <a:xfrm>
            <a:off x="812800" y="1454150"/>
            <a:ext cx="5232400" cy="704850"/>
          </a:xfrm>
          <a:prstGeom prst="roundRect">
            <a:avLst>
              <a:gd name="adj" fmla="val 14414"/>
            </a:avLst>
          </a:prstGeom>
          <a:solidFill>
            <a:srgbClr val="0E1745"/>
          </a:solidFill>
          <a:ln/>
        </p:spPr>
      </p:sp>
      <p:sp>
        <p:nvSpPr>
          <p:cNvPr id="6" name="Shape 4"/>
          <p:cNvSpPr/>
          <p:nvPr/>
        </p:nvSpPr>
        <p:spPr>
          <a:xfrm>
            <a:off x="812800" y="14541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4D5E"/>
          </a:solidFill>
          <a:ln/>
        </p:spPr>
      </p:sp>
      <p:sp>
        <p:nvSpPr>
          <p:cNvPr id="7" name="Text 5"/>
          <p:cNvSpPr/>
          <p:nvPr/>
        </p:nvSpPr>
        <p:spPr>
          <a:xfrm>
            <a:off x="1028700" y="1568450"/>
            <a:ext cx="50165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Influencers return 1.06x on EGP 1.5M; all 22 campaigns are below 1x</a:t>
            </a:r>
            <a:endParaRPr lang="en-US" sz="1300" dirty="0"/>
          </a:p>
        </p:txBody>
      </p:sp>
      <p:sp>
        <p:nvSpPr>
          <p:cNvPr id="8" name="Text 6"/>
          <p:cNvSpPr/>
          <p:nvPr/>
        </p:nvSpPr>
        <p:spPr>
          <a:xfrm>
            <a:off x="883158" y="1816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الإنفلونسرز بيرجعوا 1.06 مرة على 1.5 مليون جنيه وكل الحملات تحت 1</a:t>
            </a:r>
            <a:endParaRPr lang="en-US" sz="1200" dirty="0"/>
          </a:p>
        </p:txBody>
      </p:sp>
      <p:sp>
        <p:nvSpPr>
          <p:cNvPr id="9" name="Shape 7"/>
          <p:cNvSpPr/>
          <p:nvPr/>
        </p:nvSpPr>
        <p:spPr>
          <a:xfrm>
            <a:off x="812800" y="2260600"/>
            <a:ext cx="5232400" cy="704850"/>
          </a:xfrm>
          <a:prstGeom prst="roundRect">
            <a:avLst>
              <a:gd name="adj" fmla="val 14414"/>
            </a:avLst>
          </a:prstGeom>
          <a:solidFill>
            <a:srgbClr val="0E1745"/>
          </a:solidFill>
          <a:ln/>
        </p:spPr>
      </p:sp>
      <p:sp>
        <p:nvSpPr>
          <p:cNvPr id="10" name="Shape 8"/>
          <p:cNvSpPr/>
          <p:nvPr/>
        </p:nvSpPr>
        <p:spPr>
          <a:xfrm>
            <a:off x="812800" y="226060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2DD4BF"/>
          </a:solidFill>
          <a:ln/>
        </p:spPr>
      </p:sp>
      <p:sp>
        <p:nvSpPr>
          <p:cNvPr id="11" name="Text 9"/>
          <p:cNvSpPr/>
          <p:nvPr/>
        </p:nvSpPr>
        <p:spPr>
          <a:xfrm>
            <a:off x="1028700" y="237490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WhatsApp returns 67x and Google 10.27x</a:t>
            </a:r>
            <a:endParaRPr lang="en-US" sz="1300" dirty="0"/>
          </a:p>
        </p:txBody>
      </p:sp>
      <p:sp>
        <p:nvSpPr>
          <p:cNvPr id="12" name="Text 10"/>
          <p:cNvSpPr/>
          <p:nvPr/>
        </p:nvSpPr>
        <p:spPr>
          <a:xfrm>
            <a:off x="883158" y="26225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واتساب بيرجّع 67 مرة وجوجل 10.27 مرة</a:t>
            </a:r>
            <a:endParaRPr lang="en-US" sz="1200" dirty="0"/>
          </a:p>
        </p:txBody>
      </p:sp>
      <p:sp>
        <p:nvSpPr>
          <p:cNvPr id="13" name="Shape 11"/>
          <p:cNvSpPr/>
          <p:nvPr/>
        </p:nvSpPr>
        <p:spPr>
          <a:xfrm>
            <a:off x="812800" y="3067050"/>
            <a:ext cx="5232400" cy="914400"/>
          </a:xfrm>
          <a:prstGeom prst="roundRect">
            <a:avLst>
              <a:gd name="adj" fmla="val 11111"/>
            </a:avLst>
          </a:prstGeom>
          <a:solidFill>
            <a:srgbClr val="0E1745"/>
          </a:solidFill>
          <a:ln/>
        </p:spPr>
      </p:sp>
      <p:sp>
        <p:nvSpPr>
          <p:cNvPr id="14" name="Shape 12"/>
          <p:cNvSpPr/>
          <p:nvPr/>
        </p:nvSpPr>
        <p:spPr>
          <a:xfrm>
            <a:off x="812800" y="3067050"/>
            <a:ext cx="5232400" cy="914400"/>
          </a:xfrm>
          <a:custGeom>
            <a:avLst/>
            <a:gdLst/>
            <a:ahLst/>
            <a:cxnLst/>
            <a:rect l="l" t="t" r="r" b="b"/>
            <a:pathLst>
              <a:path w="52324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FFC233"/>
          </a:solidFill>
          <a:ln/>
        </p:spPr>
      </p:sp>
      <p:sp>
        <p:nvSpPr>
          <p:cNvPr id="15" name="Text 13"/>
          <p:cNvSpPr/>
          <p:nvPr/>
        </p:nvSpPr>
        <p:spPr>
          <a:xfrm>
            <a:off x="1028700" y="3181350"/>
            <a:ext cx="499694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Attributed sales (EGP 179.7M) exceed online sales (EGP 32.6M): treat returns as relative</a:t>
            </a:r>
            <a:endParaRPr lang="en-US" sz="1300" dirty="0"/>
          </a:p>
        </p:txBody>
      </p:sp>
      <p:sp>
        <p:nvSpPr>
          <p:cNvPr id="16" name="Text 14"/>
          <p:cNvSpPr/>
          <p:nvPr/>
        </p:nvSpPr>
        <p:spPr>
          <a:xfrm>
            <a:off x="883158" y="36385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المبيعات المنسوبة أكبر من مبيعات الأونلاين فاعتبر النسب للمقارنة فقط</a:t>
            </a:r>
            <a:endParaRPr lang="en-US" sz="1200" dirty="0"/>
          </a:p>
        </p:txBody>
      </p:sp>
      <p:pic>
        <p:nvPicPr>
          <p:cNvPr id="17" name="Image 0" descr="App 05 return on ad spend by platform and campaign screen">    </p:cNvPr>
          <p:cNvPicPr>
            <a:picLocks noChangeAspect="1"/>
          </p:cNvPicPr>
          <p:nvPr/>
        </p:nvPicPr>
        <p:blipFill>
          <a:blip r:embed="rId1"/>
          <a:srcRect l="-151" r="-151" t="0" b="0"/>
          <a:stretch/>
        </p:blipFill>
        <p:spPr>
          <a:xfrm>
            <a:off x="6311900" y="1466850"/>
            <a:ext cx="5054600" cy="3149600"/>
          </a:xfrm>
          <a:prstGeom prst="roundRect">
            <a:avLst>
              <a:gd name="adj" fmla="val 2823"/>
            </a:avLst>
          </a:prstGeom>
        </p:spPr>
      </p:pic>
      <p:sp>
        <p:nvSpPr>
          <p:cNvPr id="18" name="Shape 15"/>
          <p:cNvSpPr/>
          <p:nvPr/>
        </p:nvSpPr>
        <p:spPr>
          <a:xfrm>
            <a:off x="6305550" y="1460500"/>
            <a:ext cx="5067300" cy="3162300"/>
          </a:xfrm>
          <a:prstGeom prst="roundRect">
            <a:avLst>
              <a:gd name="adj" fmla="val 3012"/>
            </a:avLst>
          </a:prstGeom>
          <a:noFill/>
          <a:ln w="12700">
            <a:solidFill>
              <a:srgbClr val="2A3A8A"/>
            </a:solidFill>
            <a:prstDash val="solid"/>
          </a:ln>
        </p:spPr>
      </p:sp>
      <p:sp>
        <p:nvSpPr>
          <p:cNvPr id="19" name="Text 16"/>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4188781"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APP 06 · BRANCHES AND EXPANSION</a:t>
            </a:r>
            <a:endParaRPr lang="en-US" sz="1200" dirty="0"/>
          </a:p>
        </p:txBody>
      </p:sp>
      <p:sp>
        <p:nvSpPr>
          <p:cNvPr id="3" name="Text 1"/>
          <p:cNvSpPr/>
          <p:nvPr>
            <p:ph type="title"/>
          </p:nvPr>
        </p:nvSpPr>
        <p:spPr>
          <a:xfrm>
            <a:off x="812800" y="857250"/>
            <a:ext cx="488013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Where to open next</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نفتح الفرع الجاي فين</a:t>
            </a:r>
            <a:endParaRPr lang="en-US" sz="1800" dirty="0"/>
          </a:p>
        </p:txBody>
      </p:sp>
      <p:sp>
        <p:nvSpPr>
          <p:cNvPr id="5" name="Shape 3"/>
          <p:cNvSpPr/>
          <p:nvPr/>
        </p:nvSpPr>
        <p:spPr>
          <a:xfrm>
            <a:off x="812800" y="1454150"/>
            <a:ext cx="5232400" cy="704850"/>
          </a:xfrm>
          <a:prstGeom prst="roundRect">
            <a:avLst>
              <a:gd name="adj" fmla="val 14414"/>
            </a:avLst>
          </a:prstGeom>
          <a:solidFill>
            <a:srgbClr val="0E1745"/>
          </a:solidFill>
          <a:ln/>
        </p:spPr>
      </p:sp>
      <p:sp>
        <p:nvSpPr>
          <p:cNvPr id="6" name="Shape 4"/>
          <p:cNvSpPr/>
          <p:nvPr/>
        </p:nvSpPr>
        <p:spPr>
          <a:xfrm>
            <a:off x="812800" y="14541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5B8CFF"/>
          </a:solidFill>
          <a:ln/>
        </p:spPr>
      </p:sp>
      <p:sp>
        <p:nvSpPr>
          <p:cNvPr id="7" name="Text 5"/>
          <p:cNvSpPr/>
          <p:nvPr/>
        </p:nvSpPr>
        <p:spPr>
          <a:xfrm>
            <a:off x="1028700" y="156845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Alexandria leads with EGP 17.6M; Cairo follows with EGP 11.1M</a:t>
            </a:r>
            <a:endParaRPr lang="en-US" sz="1300" dirty="0"/>
          </a:p>
        </p:txBody>
      </p:sp>
      <p:sp>
        <p:nvSpPr>
          <p:cNvPr id="8" name="Text 6"/>
          <p:cNvSpPr/>
          <p:nvPr/>
        </p:nvSpPr>
        <p:spPr>
          <a:xfrm>
            <a:off x="883158" y="1816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الإسكندرية الأولى بـ17.6 مليون جنيه والقاهرة 11.1 مليون</a:t>
            </a:r>
            <a:endParaRPr lang="en-US" sz="1200" dirty="0"/>
          </a:p>
        </p:txBody>
      </p:sp>
      <p:sp>
        <p:nvSpPr>
          <p:cNvPr id="9" name="Shape 7"/>
          <p:cNvSpPr/>
          <p:nvPr/>
        </p:nvSpPr>
        <p:spPr>
          <a:xfrm>
            <a:off x="812800" y="2260600"/>
            <a:ext cx="5232400" cy="704850"/>
          </a:xfrm>
          <a:prstGeom prst="roundRect">
            <a:avLst>
              <a:gd name="adj" fmla="val 14414"/>
            </a:avLst>
          </a:prstGeom>
          <a:solidFill>
            <a:srgbClr val="0E1745"/>
          </a:solidFill>
          <a:ln/>
        </p:spPr>
      </p:sp>
      <p:sp>
        <p:nvSpPr>
          <p:cNvPr id="10" name="Shape 8"/>
          <p:cNvSpPr/>
          <p:nvPr/>
        </p:nvSpPr>
        <p:spPr>
          <a:xfrm>
            <a:off x="812800" y="226060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C233"/>
          </a:solidFill>
          <a:ln/>
        </p:spPr>
      </p:sp>
      <p:sp>
        <p:nvSpPr>
          <p:cNvPr id="11" name="Text 9"/>
          <p:cNvSpPr/>
          <p:nvPr/>
        </p:nvSpPr>
        <p:spPr>
          <a:xfrm>
            <a:off x="1028700" y="2374900"/>
            <a:ext cx="50165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Demand without a branch: Cairo, Giza and Beheira are the candidates</a:t>
            </a:r>
            <a:endParaRPr lang="en-US" sz="1300" dirty="0"/>
          </a:p>
        </p:txBody>
      </p:sp>
      <p:sp>
        <p:nvSpPr>
          <p:cNvPr id="12" name="Text 10"/>
          <p:cNvSpPr/>
          <p:nvPr/>
        </p:nvSpPr>
        <p:spPr>
          <a:xfrm>
            <a:off x="883158" y="26225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طلب من غير فرع القاهرة والجيزة والبحيرة هم المرشحين</a:t>
            </a:r>
            <a:endParaRPr lang="en-US" sz="1200" dirty="0"/>
          </a:p>
        </p:txBody>
      </p:sp>
      <p:sp>
        <p:nvSpPr>
          <p:cNvPr id="13" name="Shape 11"/>
          <p:cNvSpPr/>
          <p:nvPr/>
        </p:nvSpPr>
        <p:spPr>
          <a:xfrm>
            <a:off x="812800" y="3067050"/>
            <a:ext cx="5232400" cy="914400"/>
          </a:xfrm>
          <a:prstGeom prst="roundRect">
            <a:avLst>
              <a:gd name="adj" fmla="val 11111"/>
            </a:avLst>
          </a:prstGeom>
          <a:solidFill>
            <a:srgbClr val="0E1745"/>
          </a:solidFill>
          <a:ln/>
        </p:spPr>
      </p:sp>
      <p:sp>
        <p:nvSpPr>
          <p:cNvPr id="14" name="Shape 12"/>
          <p:cNvSpPr/>
          <p:nvPr/>
        </p:nvSpPr>
        <p:spPr>
          <a:xfrm>
            <a:off x="812800" y="3067050"/>
            <a:ext cx="5232400" cy="914400"/>
          </a:xfrm>
          <a:custGeom>
            <a:avLst/>
            <a:gdLst/>
            <a:ahLst/>
            <a:cxnLst/>
            <a:rect l="l" t="t" r="r" b="b"/>
            <a:pathLst>
              <a:path w="52324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2DD4BF"/>
          </a:solidFill>
          <a:ln/>
        </p:spPr>
      </p:sp>
      <p:sp>
        <p:nvSpPr>
          <p:cNvPr id="15" name="Text 13"/>
          <p:cNvSpPr/>
          <p:nvPr/>
        </p:nvSpPr>
        <p:spPr>
          <a:xfrm>
            <a:off x="1028700" y="3181350"/>
            <a:ext cx="499694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Check rent and staffing costs before choosing; sales data alone is not enough</a:t>
            </a:r>
            <a:endParaRPr lang="en-US" sz="1300" dirty="0"/>
          </a:p>
        </p:txBody>
      </p:sp>
      <p:sp>
        <p:nvSpPr>
          <p:cNvPr id="16" name="Text 14"/>
          <p:cNvSpPr/>
          <p:nvPr/>
        </p:nvSpPr>
        <p:spPr>
          <a:xfrm>
            <a:off x="883158" y="36385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راجع الإيجار والعمالة قبل القرار لأن المبيعات لوحدها مش كفاية</a:t>
            </a:r>
            <a:endParaRPr lang="en-US" sz="1200" dirty="0"/>
          </a:p>
        </p:txBody>
      </p:sp>
      <p:pic>
        <p:nvPicPr>
          <p:cNvPr id="17" name="Image 0" descr="App 06 branch performance and expansion candidates screen">    </p:cNvPr>
          <p:cNvPicPr>
            <a:picLocks noChangeAspect="1"/>
          </p:cNvPicPr>
          <p:nvPr/>
        </p:nvPicPr>
        <p:blipFill>
          <a:blip r:embed="rId1"/>
          <a:srcRect l="-151" r="-151" t="0" b="0"/>
          <a:stretch/>
        </p:blipFill>
        <p:spPr>
          <a:xfrm>
            <a:off x="6311900" y="1466850"/>
            <a:ext cx="5054600" cy="3149600"/>
          </a:xfrm>
          <a:prstGeom prst="roundRect">
            <a:avLst>
              <a:gd name="adj" fmla="val 2823"/>
            </a:avLst>
          </a:prstGeom>
        </p:spPr>
      </p:pic>
      <p:sp>
        <p:nvSpPr>
          <p:cNvPr id="18" name="Shape 15"/>
          <p:cNvSpPr/>
          <p:nvPr/>
        </p:nvSpPr>
        <p:spPr>
          <a:xfrm>
            <a:off x="6305550" y="1460500"/>
            <a:ext cx="5067300" cy="3162300"/>
          </a:xfrm>
          <a:prstGeom prst="roundRect">
            <a:avLst>
              <a:gd name="adj" fmla="val 3012"/>
            </a:avLst>
          </a:prstGeom>
          <a:noFill/>
          <a:ln w="12700">
            <a:solidFill>
              <a:srgbClr val="2A3A8A"/>
            </a:solidFill>
            <a:prstDash val="solid"/>
          </a:ln>
        </p:spPr>
      </p:sp>
      <p:sp>
        <p:nvSpPr>
          <p:cNvPr id="19" name="Text 16"/>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5737654"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APP 07 · PROCUREMENT AND SUPPLIERS</a:t>
            </a:r>
            <a:endParaRPr lang="en-US" sz="1200" dirty="0"/>
          </a:p>
        </p:txBody>
      </p:sp>
      <p:sp>
        <p:nvSpPr>
          <p:cNvPr id="3" name="Text 1"/>
          <p:cNvSpPr/>
          <p:nvPr>
            <p:ph type="title"/>
          </p:nvPr>
        </p:nvSpPr>
        <p:spPr>
          <a:xfrm>
            <a:off x="812800" y="857250"/>
            <a:ext cx="6684645"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Late suppliers, rising prices</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موردين متأخرين وأسعار بتزيد</a:t>
            </a:r>
            <a:endParaRPr lang="en-US" sz="1800" dirty="0"/>
          </a:p>
        </p:txBody>
      </p:sp>
      <p:sp>
        <p:nvSpPr>
          <p:cNvPr id="5" name="Shape 3"/>
          <p:cNvSpPr/>
          <p:nvPr/>
        </p:nvSpPr>
        <p:spPr>
          <a:xfrm>
            <a:off x="812800" y="1454150"/>
            <a:ext cx="5232400" cy="914400"/>
          </a:xfrm>
          <a:prstGeom prst="roundRect">
            <a:avLst>
              <a:gd name="adj" fmla="val 11111"/>
            </a:avLst>
          </a:prstGeom>
          <a:solidFill>
            <a:srgbClr val="0E1745"/>
          </a:solidFill>
          <a:ln/>
        </p:spPr>
      </p:sp>
      <p:sp>
        <p:nvSpPr>
          <p:cNvPr id="6" name="Shape 4"/>
          <p:cNvSpPr/>
          <p:nvPr/>
        </p:nvSpPr>
        <p:spPr>
          <a:xfrm>
            <a:off x="812800" y="1454150"/>
            <a:ext cx="5232400" cy="914400"/>
          </a:xfrm>
          <a:custGeom>
            <a:avLst/>
            <a:gdLst/>
            <a:ahLst/>
            <a:cxnLst/>
            <a:rect l="l" t="t" r="r" b="b"/>
            <a:pathLst>
              <a:path w="52324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FF4D5E"/>
          </a:solidFill>
          <a:ln/>
        </p:spPr>
      </p:sp>
      <p:sp>
        <p:nvSpPr>
          <p:cNvPr id="7" name="Text 5"/>
          <p:cNvSpPr/>
          <p:nvPr/>
        </p:nvSpPr>
        <p:spPr>
          <a:xfrm>
            <a:off x="1028700" y="1568450"/>
            <a:ext cx="499694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On-time delivery is 65.4%; SUP09 and SUP04 are under 40% on EGP 141.7M</a:t>
            </a:r>
            <a:endParaRPr lang="en-US" sz="1300" dirty="0"/>
          </a:p>
        </p:txBody>
      </p:sp>
      <p:sp>
        <p:nvSpPr>
          <p:cNvPr id="8" name="Text 6"/>
          <p:cNvSpPr/>
          <p:nvPr/>
        </p:nvSpPr>
        <p:spPr>
          <a:xfrm>
            <a:off x="883158" y="20256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التسليم في ميعاده 65.4% ومورّدين اتنين تحت 40% على 141.7 مليون جنيه</a:t>
            </a:r>
            <a:endParaRPr lang="en-US" sz="1200" dirty="0"/>
          </a:p>
        </p:txBody>
      </p:sp>
      <p:sp>
        <p:nvSpPr>
          <p:cNvPr id="9" name="Shape 7"/>
          <p:cNvSpPr/>
          <p:nvPr/>
        </p:nvSpPr>
        <p:spPr>
          <a:xfrm>
            <a:off x="812800" y="2470150"/>
            <a:ext cx="5232400" cy="704850"/>
          </a:xfrm>
          <a:prstGeom prst="roundRect">
            <a:avLst>
              <a:gd name="adj" fmla="val 14414"/>
            </a:avLst>
          </a:prstGeom>
          <a:solidFill>
            <a:srgbClr val="0E1745"/>
          </a:solidFill>
          <a:ln/>
        </p:spPr>
      </p:sp>
      <p:sp>
        <p:nvSpPr>
          <p:cNvPr id="10" name="Shape 8"/>
          <p:cNvSpPr/>
          <p:nvPr/>
        </p:nvSpPr>
        <p:spPr>
          <a:xfrm>
            <a:off x="812800" y="24701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C233"/>
          </a:solidFill>
          <a:ln/>
        </p:spPr>
      </p:sp>
      <p:sp>
        <p:nvSpPr>
          <p:cNvPr id="11" name="Text 9"/>
          <p:cNvSpPr/>
          <p:nvPr/>
        </p:nvSpPr>
        <p:spPr>
          <a:xfrm>
            <a:off x="1028700" y="258445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Material prices rose about 6%</a:t>
            </a:r>
            <a:endParaRPr lang="en-US" sz="1300" dirty="0"/>
          </a:p>
        </p:txBody>
      </p:sp>
      <p:sp>
        <p:nvSpPr>
          <p:cNvPr id="12" name="Text 10"/>
          <p:cNvSpPr/>
          <p:nvPr/>
        </p:nvSpPr>
        <p:spPr>
          <a:xfrm>
            <a:off x="883158" y="2832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أسعار الخامات زادت حوالي 6%</a:t>
            </a:r>
            <a:endParaRPr lang="en-US" sz="1200" dirty="0"/>
          </a:p>
        </p:txBody>
      </p:sp>
      <p:sp>
        <p:nvSpPr>
          <p:cNvPr id="13" name="Shape 11"/>
          <p:cNvSpPr/>
          <p:nvPr/>
        </p:nvSpPr>
        <p:spPr>
          <a:xfrm>
            <a:off x="812800" y="3276600"/>
            <a:ext cx="5232400" cy="914400"/>
          </a:xfrm>
          <a:prstGeom prst="roundRect">
            <a:avLst>
              <a:gd name="adj" fmla="val 11111"/>
            </a:avLst>
          </a:prstGeom>
          <a:solidFill>
            <a:srgbClr val="0E1745"/>
          </a:solidFill>
          <a:ln/>
        </p:spPr>
      </p:sp>
      <p:sp>
        <p:nvSpPr>
          <p:cNvPr id="14" name="Shape 12"/>
          <p:cNvSpPr/>
          <p:nvPr/>
        </p:nvSpPr>
        <p:spPr>
          <a:xfrm>
            <a:off x="812800" y="3276600"/>
            <a:ext cx="5232400" cy="914400"/>
          </a:xfrm>
          <a:custGeom>
            <a:avLst/>
            <a:gdLst/>
            <a:ahLst/>
            <a:cxnLst/>
            <a:rect l="l" t="t" r="r" b="b"/>
            <a:pathLst>
              <a:path w="52324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FF9248"/>
          </a:solidFill>
          <a:ln/>
        </p:spPr>
      </p:sp>
      <p:sp>
        <p:nvSpPr>
          <p:cNvPr id="15" name="Text 13"/>
          <p:cNvSpPr/>
          <p:nvPr/>
        </p:nvSpPr>
        <p:spPr>
          <a:xfrm>
            <a:off x="1028700" y="3390900"/>
            <a:ext cx="4996942"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PO spend EGP 884.8M vs EGP 168.6M implied by recipes: reconcile first</a:t>
            </a:r>
            <a:endParaRPr lang="en-US" sz="1300" dirty="0"/>
          </a:p>
        </p:txBody>
      </p:sp>
      <p:sp>
        <p:nvSpPr>
          <p:cNvPr id="16" name="Text 14"/>
          <p:cNvSpPr/>
          <p:nvPr/>
        </p:nvSpPr>
        <p:spPr>
          <a:xfrm>
            <a:off x="863600" y="3848100"/>
            <a:ext cx="50165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إنفاق الشراء 884.8 مليون مقابل 168.6 مليون حسب التركيبات وده لازم يتراجع</a:t>
            </a:r>
            <a:endParaRPr lang="en-US" sz="1200" dirty="0"/>
          </a:p>
        </p:txBody>
      </p:sp>
      <p:pic>
        <p:nvPicPr>
          <p:cNvPr id="17" name="Image 0" descr="App 07 supplier on-time delivery and price trend screen">    </p:cNvPr>
          <p:cNvPicPr>
            <a:picLocks noChangeAspect="1"/>
          </p:cNvPicPr>
          <p:nvPr/>
        </p:nvPicPr>
        <p:blipFill>
          <a:blip r:embed="rId1"/>
          <a:srcRect l="-151" r="-151" t="0" b="0"/>
          <a:stretch/>
        </p:blipFill>
        <p:spPr>
          <a:xfrm>
            <a:off x="6311900" y="1466850"/>
            <a:ext cx="5054600" cy="3149600"/>
          </a:xfrm>
          <a:prstGeom prst="roundRect">
            <a:avLst>
              <a:gd name="adj" fmla="val 2823"/>
            </a:avLst>
          </a:prstGeom>
        </p:spPr>
      </p:pic>
      <p:sp>
        <p:nvSpPr>
          <p:cNvPr id="18" name="Shape 15"/>
          <p:cNvSpPr/>
          <p:nvPr/>
        </p:nvSpPr>
        <p:spPr>
          <a:xfrm>
            <a:off x="6305550" y="1460500"/>
            <a:ext cx="5067300" cy="3162300"/>
          </a:xfrm>
          <a:prstGeom prst="roundRect">
            <a:avLst>
              <a:gd name="adj" fmla="val 3012"/>
            </a:avLst>
          </a:prstGeom>
          <a:noFill/>
          <a:ln w="12700">
            <a:solidFill>
              <a:srgbClr val="2A3A8A"/>
            </a:solidFill>
            <a:prstDash val="solid"/>
          </a:ln>
        </p:spPr>
      </p:sp>
      <p:sp>
        <p:nvSpPr>
          <p:cNvPr id="19" name="Text 16"/>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670963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9248"/>
                </a:solidFill>
                <a:latin typeface="Cairo" pitchFamily="34" charset="0"/>
                <a:ea typeface="Cairo" pitchFamily="34" charset="-122"/>
                <a:cs typeface="Cairo" pitchFamily="34" charset="-120"/>
              </a:rPr>
              <a:t>FINAL MISSION · MARGIN GUARD</a:t>
            </a:r>
            <a:endParaRPr lang="en-US" sz="1200" dirty="0"/>
          </a:p>
        </p:txBody>
      </p:sp>
      <p:sp>
        <p:nvSpPr>
          <p:cNvPr id="3" name="Text 1"/>
          <p:cNvSpPr/>
          <p:nvPr>
            <p:ph type="title"/>
          </p:nvPr>
        </p:nvSpPr>
        <p:spPr>
          <a:xfrm>
            <a:off x="812800" y="857250"/>
            <a:ext cx="690372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Cap discounts, keep the volume</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حدّد سقف للخصم واحتفظ بالكمية</a:t>
            </a:r>
            <a:endParaRPr lang="en-US" sz="1800" dirty="0"/>
          </a:p>
        </p:txBody>
      </p:sp>
      <p:sp>
        <p:nvSpPr>
          <p:cNvPr id="5" name="Shape 3"/>
          <p:cNvSpPr/>
          <p:nvPr/>
        </p:nvSpPr>
        <p:spPr>
          <a:xfrm>
            <a:off x="812800" y="1454150"/>
            <a:ext cx="5232400" cy="704850"/>
          </a:xfrm>
          <a:prstGeom prst="roundRect">
            <a:avLst>
              <a:gd name="adj" fmla="val 14414"/>
            </a:avLst>
          </a:prstGeom>
          <a:solidFill>
            <a:srgbClr val="0E1745"/>
          </a:solidFill>
          <a:ln/>
        </p:spPr>
      </p:sp>
      <p:sp>
        <p:nvSpPr>
          <p:cNvPr id="6" name="Shape 4"/>
          <p:cNvSpPr/>
          <p:nvPr/>
        </p:nvSpPr>
        <p:spPr>
          <a:xfrm>
            <a:off x="812800" y="14541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4D5E"/>
          </a:solidFill>
          <a:ln/>
        </p:spPr>
      </p:sp>
      <p:sp>
        <p:nvSpPr>
          <p:cNvPr id="7" name="Text 5"/>
          <p:cNvSpPr/>
          <p:nvPr/>
        </p:nvSpPr>
        <p:spPr>
          <a:xfrm>
            <a:off x="1028700" y="156845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4,876 order lines sold at a loss, EGP 1.37M</a:t>
            </a:r>
            <a:endParaRPr lang="en-US" sz="1300" dirty="0"/>
          </a:p>
        </p:txBody>
      </p:sp>
      <p:sp>
        <p:nvSpPr>
          <p:cNvPr id="8" name="Text 6"/>
          <p:cNvSpPr/>
          <p:nvPr/>
        </p:nvSpPr>
        <p:spPr>
          <a:xfrm>
            <a:off x="883158" y="18161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4,876 بند اتباع بخسارة بقيمة 1.37 مليون جنيه</a:t>
            </a:r>
            <a:endParaRPr lang="en-US" sz="1200" dirty="0"/>
          </a:p>
        </p:txBody>
      </p:sp>
      <p:sp>
        <p:nvSpPr>
          <p:cNvPr id="9" name="Shape 7"/>
          <p:cNvSpPr/>
          <p:nvPr/>
        </p:nvSpPr>
        <p:spPr>
          <a:xfrm>
            <a:off x="812800" y="2260600"/>
            <a:ext cx="5232400" cy="704850"/>
          </a:xfrm>
          <a:prstGeom prst="roundRect">
            <a:avLst>
              <a:gd name="adj" fmla="val 14414"/>
            </a:avLst>
          </a:prstGeom>
          <a:solidFill>
            <a:srgbClr val="0E1745"/>
          </a:solidFill>
          <a:ln/>
        </p:spPr>
      </p:sp>
      <p:sp>
        <p:nvSpPr>
          <p:cNvPr id="10" name="Shape 8"/>
          <p:cNvSpPr/>
          <p:nvPr/>
        </p:nvSpPr>
        <p:spPr>
          <a:xfrm>
            <a:off x="812800" y="226060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2DD4BF"/>
          </a:solidFill>
          <a:ln/>
        </p:spPr>
      </p:sp>
      <p:sp>
        <p:nvSpPr>
          <p:cNvPr id="11" name="Text 9"/>
          <p:cNvSpPr/>
          <p:nvPr/>
        </p:nvSpPr>
        <p:spPr>
          <a:xfrm>
            <a:off x="1028700" y="237490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30% cap, 70% of volume kept: +EGP 2.0M a year (+8.6% gross profit)</a:t>
            </a:r>
            <a:endParaRPr lang="en-US" sz="1300" dirty="0"/>
          </a:p>
        </p:txBody>
      </p:sp>
      <p:sp>
        <p:nvSpPr>
          <p:cNvPr id="12" name="Text 10"/>
          <p:cNvSpPr/>
          <p:nvPr/>
        </p:nvSpPr>
        <p:spPr>
          <a:xfrm>
            <a:off x="883158" y="262255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سقف 30% وبقاء 70% من الكمية يضيف 2 مليون جنيه في السنة</a:t>
            </a:r>
            <a:endParaRPr lang="en-US" sz="1200" dirty="0"/>
          </a:p>
        </p:txBody>
      </p:sp>
      <p:sp>
        <p:nvSpPr>
          <p:cNvPr id="13" name="Shape 11"/>
          <p:cNvSpPr/>
          <p:nvPr/>
        </p:nvSpPr>
        <p:spPr>
          <a:xfrm>
            <a:off x="812800" y="3067050"/>
            <a:ext cx="5232400" cy="704850"/>
          </a:xfrm>
          <a:prstGeom prst="roundRect">
            <a:avLst>
              <a:gd name="adj" fmla="val 14414"/>
            </a:avLst>
          </a:prstGeom>
          <a:solidFill>
            <a:srgbClr val="0E1745"/>
          </a:solidFill>
          <a:ln/>
        </p:spPr>
      </p:sp>
      <p:sp>
        <p:nvSpPr>
          <p:cNvPr id="14" name="Shape 12"/>
          <p:cNvSpPr/>
          <p:nvPr/>
        </p:nvSpPr>
        <p:spPr>
          <a:xfrm>
            <a:off x="812800" y="3067050"/>
            <a:ext cx="5232400" cy="704850"/>
          </a:xfrm>
          <a:custGeom>
            <a:avLst/>
            <a:gdLst/>
            <a:ahLst/>
            <a:cxnLst/>
            <a:rect l="l" t="t" r="r" b="b"/>
            <a:pathLst>
              <a:path w="5232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C233"/>
          </a:solidFill>
          <a:ln/>
        </p:spPr>
      </p:sp>
      <p:sp>
        <p:nvSpPr>
          <p:cNvPr id="15" name="Text 13"/>
          <p:cNvSpPr/>
          <p:nvPr/>
        </p:nvSpPr>
        <p:spPr>
          <a:xfrm>
            <a:off x="1028700" y="3181350"/>
            <a:ext cx="499694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Break-even: still profitable if only 53% of volume stays</a:t>
            </a:r>
            <a:endParaRPr lang="en-US" sz="1300" dirty="0"/>
          </a:p>
        </p:txBody>
      </p:sp>
      <p:sp>
        <p:nvSpPr>
          <p:cNvPr id="16" name="Text 14"/>
          <p:cNvSpPr/>
          <p:nvPr/>
        </p:nvSpPr>
        <p:spPr>
          <a:xfrm>
            <a:off x="883158" y="3429000"/>
            <a:ext cx="499694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نقطة التعادل لو 53% بس من الكمية فضلت يبقى لسه رابح</a:t>
            </a:r>
            <a:endParaRPr lang="en-US" sz="1200" dirty="0"/>
          </a:p>
        </p:txBody>
      </p:sp>
      <p:pic>
        <p:nvPicPr>
          <p:cNvPr id="17" name="Image 0" descr="Margin Guard simulator with discount cap and volume retained sliders">    </p:cNvPr>
          <p:cNvPicPr>
            <a:picLocks noChangeAspect="1"/>
          </p:cNvPicPr>
          <p:nvPr/>
        </p:nvPicPr>
        <p:blipFill>
          <a:blip r:embed="rId1"/>
          <a:srcRect l="-151" r="-151" t="0" b="0"/>
          <a:stretch/>
        </p:blipFill>
        <p:spPr>
          <a:xfrm>
            <a:off x="6311900" y="1466850"/>
            <a:ext cx="5054600" cy="3149600"/>
          </a:xfrm>
          <a:prstGeom prst="roundRect">
            <a:avLst>
              <a:gd name="adj" fmla="val 2823"/>
            </a:avLst>
          </a:prstGeom>
        </p:spPr>
      </p:pic>
      <p:sp>
        <p:nvSpPr>
          <p:cNvPr id="18" name="Shape 15"/>
          <p:cNvSpPr/>
          <p:nvPr/>
        </p:nvSpPr>
        <p:spPr>
          <a:xfrm>
            <a:off x="6305550" y="1460500"/>
            <a:ext cx="5067300" cy="3162300"/>
          </a:xfrm>
          <a:prstGeom prst="roundRect">
            <a:avLst>
              <a:gd name="adj" fmla="val 3012"/>
            </a:avLst>
          </a:prstGeom>
          <a:noFill/>
          <a:ln w="12700">
            <a:solidFill>
              <a:srgbClr val="2A3A8A"/>
            </a:solidFill>
            <a:prstDash val="solid"/>
          </a:ln>
        </p:spPr>
      </p:sp>
      <p:sp>
        <p:nvSpPr>
          <p:cNvPr id="19" name="Text 16"/>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5466734"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9248"/>
                </a:solidFill>
                <a:latin typeface="Cairo" pitchFamily="34" charset="0"/>
                <a:ea typeface="Cairo" pitchFamily="34" charset="-122"/>
                <a:cs typeface="Cairo" pitchFamily="34" charset="-120"/>
              </a:rPr>
              <a:t>MARGIN GUARD · HOW TO ACT SAFELY</a:t>
            </a:r>
            <a:endParaRPr lang="en-US" sz="1200" dirty="0"/>
          </a:p>
        </p:txBody>
      </p:sp>
      <p:sp>
        <p:nvSpPr>
          <p:cNvPr id="3" name="Text 1"/>
          <p:cNvSpPr/>
          <p:nvPr>
            <p:ph type="title"/>
          </p:nvPr>
        </p:nvSpPr>
        <p:spPr>
          <a:xfrm>
            <a:off x="812800" y="857250"/>
            <a:ext cx="636901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Test it before rolling it out</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جرّبه الأول قبل التعميم</a:t>
            </a:r>
            <a:endParaRPr lang="en-US" sz="1800" dirty="0"/>
          </a:p>
        </p:txBody>
      </p:sp>
      <p:sp>
        <p:nvSpPr>
          <p:cNvPr id="5" name="Shape 3"/>
          <p:cNvSpPr/>
          <p:nvPr/>
        </p:nvSpPr>
        <p:spPr>
          <a:xfrm>
            <a:off x="812800" y="1454150"/>
            <a:ext cx="5219700" cy="1365250"/>
          </a:xfrm>
          <a:prstGeom prst="roundRect">
            <a:avLst>
              <a:gd name="adj" fmla="val 7442"/>
            </a:avLst>
          </a:prstGeom>
          <a:solidFill>
            <a:srgbClr val="0E1745"/>
          </a:solidFill>
          <a:ln/>
        </p:spPr>
      </p:sp>
      <p:sp>
        <p:nvSpPr>
          <p:cNvPr id="6" name="Shape 4"/>
          <p:cNvSpPr/>
          <p:nvPr/>
        </p:nvSpPr>
        <p:spPr>
          <a:xfrm>
            <a:off x="812800" y="1454150"/>
            <a:ext cx="5219700" cy="1365250"/>
          </a:xfrm>
          <a:custGeom>
            <a:avLst/>
            <a:gdLst/>
            <a:ahLst/>
            <a:cxnLst/>
            <a:rect l="l" t="t" r="r" b="b"/>
            <a:pathLst>
              <a:path w="5219700" h="1365250">
                <a:moveTo>
                  <a:pt x="0" y="101600"/>
                </a:moveTo>
                <a:lnTo>
                  <a:pt x="0" y="101600"/>
                </a:lnTo>
                <a:arcTo hR="101600" wR="101600" stAng="10800000" swAng="5400000"/>
                <a:lnTo>
                  <a:pt x="5118100" y="0"/>
                </a:lnTo>
                <a:arcTo hR="101600" wR="101600" stAng="16200000" swAng="5400000"/>
                <a:lnTo>
                  <a:pt x="5219700" y="101600"/>
                </a:lnTo>
                <a:arcTo hR="63500" wR="101600" stAng="0" swAng="-5400000"/>
                <a:lnTo>
                  <a:pt x="101600" y="38100"/>
                </a:lnTo>
                <a:arcTo hR="63500" wR="101600" stAng="16200000" swAng="-5400000"/>
                <a:close/>
              </a:path>
            </a:pathLst>
          </a:custGeom>
          <a:solidFill>
            <a:srgbClr val="FF4D5E"/>
          </a:solidFill>
          <a:ln/>
        </p:spPr>
      </p:sp>
      <p:sp>
        <p:nvSpPr>
          <p:cNvPr id="7" name="Text 5"/>
          <p:cNvSpPr/>
          <p:nvPr/>
        </p:nvSpPr>
        <p:spPr>
          <a:xfrm>
            <a:off x="990600" y="1644650"/>
            <a:ext cx="5010023"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The risk</a:t>
            </a:r>
            <a:endParaRPr lang="en-US" sz="1400" dirty="0"/>
          </a:p>
        </p:txBody>
      </p:sp>
      <p:sp>
        <p:nvSpPr>
          <p:cNvPr id="8" name="Text 6"/>
          <p:cNvSpPr/>
          <p:nvPr/>
        </p:nvSpPr>
        <p:spPr>
          <a:xfrm>
            <a:off x="990600" y="1943100"/>
            <a:ext cx="5010023"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F5FF"/>
                </a:solidFill>
                <a:latin typeface="Cairo" pitchFamily="34" charset="0"/>
                <a:ea typeface="Cairo" pitchFamily="34" charset="-122"/>
                <a:cs typeface="Cairo" pitchFamily="34" charset="-120"/>
              </a:rPr>
              <a:t>Cutting discounts may lose customers, and fixed costs are then spread over fewer units</a:t>
            </a:r>
            <a:endParaRPr lang="en-US" sz="1300" dirty="0"/>
          </a:p>
        </p:txBody>
      </p:sp>
      <p:sp>
        <p:nvSpPr>
          <p:cNvPr id="9" name="Text 7"/>
          <p:cNvSpPr/>
          <p:nvPr/>
        </p:nvSpPr>
        <p:spPr>
          <a:xfrm>
            <a:off x="844677" y="2438400"/>
            <a:ext cx="5010023"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تقليل الخصم ممكن يخسّرنا عملاء والتكاليف الثابتة تتوزع على كمية أقل</a:t>
            </a:r>
            <a:endParaRPr lang="en-US" sz="1200" dirty="0"/>
          </a:p>
        </p:txBody>
      </p:sp>
      <p:sp>
        <p:nvSpPr>
          <p:cNvPr id="10" name="Shape 8"/>
          <p:cNvSpPr/>
          <p:nvPr/>
        </p:nvSpPr>
        <p:spPr>
          <a:xfrm>
            <a:off x="6159500" y="1454150"/>
            <a:ext cx="5219700" cy="1365250"/>
          </a:xfrm>
          <a:prstGeom prst="roundRect">
            <a:avLst>
              <a:gd name="adj" fmla="val 7442"/>
            </a:avLst>
          </a:prstGeom>
          <a:solidFill>
            <a:srgbClr val="0E1745"/>
          </a:solidFill>
          <a:ln/>
        </p:spPr>
      </p:sp>
      <p:sp>
        <p:nvSpPr>
          <p:cNvPr id="11" name="Shape 9"/>
          <p:cNvSpPr/>
          <p:nvPr/>
        </p:nvSpPr>
        <p:spPr>
          <a:xfrm>
            <a:off x="6159500" y="1454150"/>
            <a:ext cx="5219700" cy="1365250"/>
          </a:xfrm>
          <a:custGeom>
            <a:avLst/>
            <a:gdLst/>
            <a:ahLst/>
            <a:cxnLst/>
            <a:rect l="l" t="t" r="r" b="b"/>
            <a:pathLst>
              <a:path w="5219700" h="1365250">
                <a:moveTo>
                  <a:pt x="0" y="101600"/>
                </a:moveTo>
                <a:lnTo>
                  <a:pt x="0" y="101600"/>
                </a:lnTo>
                <a:arcTo hR="101600" wR="101600" stAng="10800000" swAng="5400000"/>
                <a:lnTo>
                  <a:pt x="5118100" y="0"/>
                </a:lnTo>
                <a:arcTo hR="101600" wR="101600" stAng="16200000" swAng="5400000"/>
                <a:lnTo>
                  <a:pt x="5219700" y="101600"/>
                </a:lnTo>
                <a:arcTo hR="63500" wR="101600" stAng="0" swAng="-5400000"/>
                <a:lnTo>
                  <a:pt x="101600" y="38100"/>
                </a:lnTo>
                <a:arcTo hR="63500" wR="101600" stAng="16200000" swAng="-5400000"/>
                <a:close/>
              </a:path>
            </a:pathLst>
          </a:custGeom>
          <a:solidFill>
            <a:srgbClr val="FFC233"/>
          </a:solidFill>
          <a:ln/>
        </p:spPr>
      </p:sp>
      <p:sp>
        <p:nvSpPr>
          <p:cNvPr id="12" name="Text 10"/>
          <p:cNvSpPr/>
          <p:nvPr/>
        </p:nvSpPr>
        <p:spPr>
          <a:xfrm>
            <a:off x="6337300" y="1644650"/>
            <a:ext cx="5010023"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The assumption</a:t>
            </a:r>
            <a:endParaRPr lang="en-US" sz="1400" dirty="0"/>
          </a:p>
        </p:txBody>
      </p:sp>
      <p:sp>
        <p:nvSpPr>
          <p:cNvPr id="13" name="Text 11"/>
          <p:cNvSpPr/>
          <p:nvPr/>
        </p:nvSpPr>
        <p:spPr>
          <a:xfrm>
            <a:off x="6337300" y="1943100"/>
            <a:ext cx="5010023"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F5FF"/>
                </a:solidFill>
                <a:latin typeface="Cairo" pitchFamily="34" charset="0"/>
                <a:ea typeface="Cairo" pitchFamily="34" charset="-122"/>
                <a:cs typeface="Cairo" pitchFamily="34" charset="-120"/>
              </a:rPr>
              <a:t>70% of volume stays at the cap. This is an estimate, not a measured fact</a:t>
            </a:r>
            <a:endParaRPr lang="en-US" sz="1300" dirty="0"/>
          </a:p>
        </p:txBody>
      </p:sp>
      <p:sp>
        <p:nvSpPr>
          <p:cNvPr id="14" name="Text 12"/>
          <p:cNvSpPr/>
          <p:nvPr/>
        </p:nvSpPr>
        <p:spPr>
          <a:xfrm>
            <a:off x="6191377" y="2438400"/>
            <a:ext cx="5010023"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افتراض إن 70% من الكمية تفضل وده تقدير مش رقم مقاس</a:t>
            </a:r>
            <a:endParaRPr lang="en-US" sz="1200" dirty="0"/>
          </a:p>
        </p:txBody>
      </p:sp>
      <p:sp>
        <p:nvSpPr>
          <p:cNvPr id="15" name="Shape 13"/>
          <p:cNvSpPr/>
          <p:nvPr/>
        </p:nvSpPr>
        <p:spPr>
          <a:xfrm>
            <a:off x="812800" y="2946400"/>
            <a:ext cx="5219700" cy="1143000"/>
          </a:xfrm>
          <a:prstGeom prst="roundRect">
            <a:avLst>
              <a:gd name="adj" fmla="val 8889"/>
            </a:avLst>
          </a:prstGeom>
          <a:solidFill>
            <a:srgbClr val="0E1745"/>
          </a:solidFill>
          <a:ln/>
        </p:spPr>
      </p:sp>
      <p:sp>
        <p:nvSpPr>
          <p:cNvPr id="16" name="Shape 14"/>
          <p:cNvSpPr/>
          <p:nvPr/>
        </p:nvSpPr>
        <p:spPr>
          <a:xfrm>
            <a:off x="812800" y="2946400"/>
            <a:ext cx="5219700" cy="1143000"/>
          </a:xfrm>
          <a:custGeom>
            <a:avLst/>
            <a:gdLst/>
            <a:ahLst/>
            <a:cxnLst/>
            <a:rect l="l" t="t" r="r" b="b"/>
            <a:pathLst>
              <a:path w="5219700" h="1143000">
                <a:moveTo>
                  <a:pt x="0" y="101600"/>
                </a:moveTo>
                <a:lnTo>
                  <a:pt x="0" y="101600"/>
                </a:lnTo>
                <a:arcTo hR="101600" wR="101600" stAng="10800000" swAng="5400000"/>
                <a:lnTo>
                  <a:pt x="5118100" y="0"/>
                </a:lnTo>
                <a:arcTo hR="101600" wR="101600" stAng="16200000" swAng="5400000"/>
                <a:lnTo>
                  <a:pt x="5219700" y="101600"/>
                </a:lnTo>
                <a:arcTo hR="63500" wR="101600" stAng="0" swAng="-5400000"/>
                <a:lnTo>
                  <a:pt x="101600" y="38100"/>
                </a:lnTo>
                <a:arcTo hR="63500" wR="101600" stAng="16200000" swAng="-5400000"/>
                <a:close/>
              </a:path>
            </a:pathLst>
          </a:custGeom>
          <a:solidFill>
            <a:srgbClr val="2DD4BF"/>
          </a:solidFill>
          <a:ln/>
        </p:spPr>
      </p:sp>
      <p:sp>
        <p:nvSpPr>
          <p:cNvPr id="17" name="Text 15"/>
          <p:cNvSpPr/>
          <p:nvPr/>
        </p:nvSpPr>
        <p:spPr>
          <a:xfrm>
            <a:off x="990600" y="3136900"/>
            <a:ext cx="5010023"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The pilot</a:t>
            </a:r>
            <a:endParaRPr lang="en-US" sz="1400" dirty="0"/>
          </a:p>
        </p:txBody>
      </p:sp>
      <p:sp>
        <p:nvSpPr>
          <p:cNvPr id="18" name="Text 16"/>
          <p:cNvSpPr/>
          <p:nvPr/>
        </p:nvSpPr>
        <p:spPr>
          <a:xfrm>
            <a:off x="990600" y="3435350"/>
            <a:ext cx="5010023"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F5FF"/>
                </a:solidFill>
                <a:latin typeface="Cairo" pitchFamily="34" charset="0"/>
                <a:ea typeface="Cairo" pitchFamily="34" charset="-122"/>
                <a:cs typeface="Cairo" pitchFamily="34" charset="-120"/>
              </a:rPr>
              <a:t>30 days on one customer tier, compare with a tier left unchanged</a:t>
            </a:r>
            <a:endParaRPr lang="en-US" sz="1300" dirty="0"/>
          </a:p>
        </p:txBody>
      </p:sp>
      <p:sp>
        <p:nvSpPr>
          <p:cNvPr id="19" name="Text 17"/>
          <p:cNvSpPr/>
          <p:nvPr/>
        </p:nvSpPr>
        <p:spPr>
          <a:xfrm>
            <a:off x="844677" y="3708400"/>
            <a:ext cx="5010023"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30 يوم على شريحة عملاء واحدة ونقارن بشريحة ماتغيرتش</a:t>
            </a:r>
            <a:endParaRPr lang="en-US" sz="1200" dirty="0"/>
          </a:p>
        </p:txBody>
      </p:sp>
      <p:sp>
        <p:nvSpPr>
          <p:cNvPr id="20" name="Shape 18"/>
          <p:cNvSpPr/>
          <p:nvPr/>
        </p:nvSpPr>
        <p:spPr>
          <a:xfrm>
            <a:off x="6159500" y="2946400"/>
            <a:ext cx="5219700" cy="1143000"/>
          </a:xfrm>
          <a:prstGeom prst="roundRect">
            <a:avLst>
              <a:gd name="adj" fmla="val 8889"/>
            </a:avLst>
          </a:prstGeom>
          <a:solidFill>
            <a:srgbClr val="0E1745"/>
          </a:solidFill>
          <a:ln/>
        </p:spPr>
      </p:sp>
      <p:sp>
        <p:nvSpPr>
          <p:cNvPr id="21" name="Shape 19"/>
          <p:cNvSpPr/>
          <p:nvPr/>
        </p:nvSpPr>
        <p:spPr>
          <a:xfrm>
            <a:off x="6159500" y="2946400"/>
            <a:ext cx="5219700" cy="1143000"/>
          </a:xfrm>
          <a:custGeom>
            <a:avLst/>
            <a:gdLst/>
            <a:ahLst/>
            <a:cxnLst/>
            <a:rect l="l" t="t" r="r" b="b"/>
            <a:pathLst>
              <a:path w="5219700" h="1143000">
                <a:moveTo>
                  <a:pt x="0" y="101600"/>
                </a:moveTo>
                <a:lnTo>
                  <a:pt x="0" y="101600"/>
                </a:lnTo>
                <a:arcTo hR="101600" wR="101600" stAng="10800000" swAng="5400000"/>
                <a:lnTo>
                  <a:pt x="5118100" y="0"/>
                </a:lnTo>
                <a:arcTo hR="101600" wR="101600" stAng="16200000" swAng="5400000"/>
                <a:lnTo>
                  <a:pt x="5219700" y="101600"/>
                </a:lnTo>
                <a:arcTo hR="63500" wR="101600" stAng="0" swAng="-5400000"/>
                <a:lnTo>
                  <a:pt x="101600" y="38100"/>
                </a:lnTo>
                <a:arcTo hR="63500" wR="101600" stAng="16200000" swAng="-5400000"/>
                <a:close/>
              </a:path>
            </a:pathLst>
          </a:custGeom>
          <a:solidFill>
            <a:srgbClr val="5B8CFF"/>
          </a:solidFill>
          <a:ln/>
        </p:spPr>
      </p:sp>
      <p:sp>
        <p:nvSpPr>
          <p:cNvPr id="22" name="Text 20"/>
          <p:cNvSpPr/>
          <p:nvPr/>
        </p:nvSpPr>
        <p:spPr>
          <a:xfrm>
            <a:off x="6337300" y="3136900"/>
            <a:ext cx="5010023"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The decision rule</a:t>
            </a:r>
            <a:endParaRPr lang="en-US" sz="1400" dirty="0"/>
          </a:p>
        </p:txBody>
      </p:sp>
      <p:sp>
        <p:nvSpPr>
          <p:cNvPr id="23" name="Text 21"/>
          <p:cNvSpPr/>
          <p:nvPr/>
        </p:nvSpPr>
        <p:spPr>
          <a:xfrm>
            <a:off x="6337300" y="3435350"/>
            <a:ext cx="5010023" cy="2476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2F5FF"/>
                </a:solidFill>
                <a:latin typeface="Cairo" pitchFamily="34" charset="0"/>
                <a:ea typeface="Cairo" pitchFamily="34" charset="-122"/>
                <a:cs typeface="Cairo" pitchFamily="34" charset="-120"/>
              </a:rPr>
              <a:t>Roll out if volume kept is above 53%; otherwise adjust the cap</a:t>
            </a:r>
            <a:endParaRPr lang="en-US" sz="1300" dirty="0"/>
          </a:p>
        </p:txBody>
      </p:sp>
      <p:sp>
        <p:nvSpPr>
          <p:cNvPr id="24" name="Text 22"/>
          <p:cNvSpPr/>
          <p:nvPr/>
        </p:nvSpPr>
        <p:spPr>
          <a:xfrm>
            <a:off x="6191377" y="3708400"/>
            <a:ext cx="5010023"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عمّم لو الكمية الباقية فوق 53% وإلا عدّل السقف</a:t>
            </a:r>
            <a:endParaRPr lang="en-US" sz="1200" dirty="0"/>
          </a:p>
        </p:txBody>
      </p:sp>
      <p:sp>
        <p:nvSpPr>
          <p:cNvPr id="25" name="Text 23"/>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5653956"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SMART ASSIST</a:t>
            </a:r>
            <a:endParaRPr lang="en-US" sz="1200" dirty="0"/>
          </a:p>
        </p:txBody>
      </p:sp>
      <p:sp>
        <p:nvSpPr>
          <p:cNvPr id="3" name="Text 1"/>
          <p:cNvSpPr/>
          <p:nvPr>
            <p:ph type="title"/>
          </p:nvPr>
        </p:nvSpPr>
        <p:spPr>
          <a:xfrm>
            <a:off x="812800" y="857250"/>
            <a:ext cx="6587133"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Ask the data, get an action</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اسأل الداتا وخد إجراء</a:t>
            </a:r>
            <a:endParaRPr lang="en-US" sz="1800" dirty="0"/>
          </a:p>
        </p:txBody>
      </p:sp>
      <p:pic>
        <p:nvPicPr>
          <p:cNvPr id="5" name="Image 0" descr="Smart Assist generating a purchase order">    </p:cNvPr>
          <p:cNvPicPr>
            <a:picLocks noChangeAspect="1"/>
          </p:cNvPicPr>
          <p:nvPr/>
        </p:nvPicPr>
        <p:blipFill>
          <a:blip r:embed="rId1"/>
          <a:srcRect l="-130" r="-130" t="0" b="0"/>
          <a:stretch/>
        </p:blipFill>
        <p:spPr>
          <a:xfrm>
            <a:off x="825500" y="1466850"/>
            <a:ext cx="3911600" cy="2438400"/>
          </a:xfrm>
          <a:prstGeom prst="roundRect">
            <a:avLst>
              <a:gd name="adj" fmla="val 3646"/>
            </a:avLst>
          </a:prstGeom>
        </p:spPr>
      </p:pic>
      <p:sp>
        <p:nvSpPr>
          <p:cNvPr id="6" name="Shape 3"/>
          <p:cNvSpPr/>
          <p:nvPr/>
        </p:nvSpPr>
        <p:spPr>
          <a:xfrm>
            <a:off x="819150" y="1460500"/>
            <a:ext cx="3924300" cy="2451100"/>
          </a:xfrm>
          <a:prstGeom prst="roundRect">
            <a:avLst>
              <a:gd name="adj" fmla="val 3886"/>
            </a:avLst>
          </a:prstGeom>
          <a:noFill/>
          <a:ln w="12700">
            <a:solidFill>
              <a:srgbClr val="2A3A8A"/>
            </a:solidFill>
            <a:prstDash val="solid"/>
          </a:ln>
        </p:spPr>
      </p:sp>
      <p:pic>
        <p:nvPicPr>
          <p:cNvPr id="7" name="Image 1" descr="Smart Assist answering a question in Arabic">    </p:cNvPr>
          <p:cNvPicPr>
            <a:picLocks noChangeAspect="1"/>
          </p:cNvPicPr>
          <p:nvPr/>
        </p:nvPicPr>
        <p:blipFill>
          <a:blip r:embed="rId2"/>
          <a:srcRect l="-130" r="-130" t="0" b="0"/>
          <a:stretch/>
        </p:blipFill>
        <p:spPr>
          <a:xfrm>
            <a:off x="4965700" y="1466850"/>
            <a:ext cx="3911600" cy="2438400"/>
          </a:xfrm>
          <a:prstGeom prst="roundRect">
            <a:avLst>
              <a:gd name="adj" fmla="val 3646"/>
            </a:avLst>
          </a:prstGeom>
        </p:spPr>
      </p:pic>
      <p:sp>
        <p:nvSpPr>
          <p:cNvPr id="8" name="Shape 4"/>
          <p:cNvSpPr/>
          <p:nvPr/>
        </p:nvSpPr>
        <p:spPr>
          <a:xfrm>
            <a:off x="4959350" y="1460500"/>
            <a:ext cx="3924300" cy="2451100"/>
          </a:xfrm>
          <a:prstGeom prst="roundRect">
            <a:avLst>
              <a:gd name="adj" fmla="val 3886"/>
            </a:avLst>
          </a:prstGeom>
          <a:noFill/>
          <a:ln w="12700">
            <a:solidFill>
              <a:srgbClr val="2A3A8A"/>
            </a:solidFill>
            <a:prstDash val="solid"/>
          </a:ln>
        </p:spPr>
      </p:sp>
      <p:sp>
        <p:nvSpPr>
          <p:cNvPr id="9" name="Shape 5"/>
          <p:cNvSpPr/>
          <p:nvPr/>
        </p:nvSpPr>
        <p:spPr>
          <a:xfrm>
            <a:off x="9093200" y="1454150"/>
            <a:ext cx="2286000" cy="361950"/>
          </a:xfrm>
          <a:prstGeom prst="roundRect">
            <a:avLst>
              <a:gd name="adj" fmla="val 21053"/>
            </a:avLst>
          </a:prstGeom>
          <a:solidFill>
            <a:srgbClr val="0E1745"/>
          </a:solidFill>
          <a:ln/>
        </p:spPr>
      </p:sp>
      <p:sp>
        <p:nvSpPr>
          <p:cNvPr id="10" name="Shape 6"/>
          <p:cNvSpPr/>
          <p:nvPr/>
        </p:nvSpPr>
        <p:spPr>
          <a:xfrm>
            <a:off x="9093200" y="1454150"/>
            <a:ext cx="2286000" cy="361950"/>
          </a:xfrm>
          <a:custGeom>
            <a:avLst/>
            <a:gdLst/>
            <a:ahLst/>
            <a:cxnLst/>
            <a:rect l="l" t="t" r="r" b="b"/>
            <a:pathLst>
              <a:path w="2286000" h="361950">
                <a:moveTo>
                  <a:pt x="76200" y="361950"/>
                </a:moveTo>
                <a:lnTo>
                  <a:pt x="76200" y="361950"/>
                </a:lnTo>
                <a:arcTo hR="76200" wR="76200" stAng="5400000" swAng="5400000"/>
                <a:lnTo>
                  <a:pt x="0" y="76200"/>
                </a:lnTo>
                <a:arcTo hR="76200" wR="76200" stAng="10800000" swAng="5400000"/>
                <a:lnTo>
                  <a:pt x="76200" y="0"/>
                </a:lnTo>
                <a:arcTo hR="76200" wR="25400" stAng="16200000" swAng="-5400000"/>
                <a:lnTo>
                  <a:pt x="50800" y="285750"/>
                </a:lnTo>
                <a:arcTo hR="76200" wR="25400" stAng="10800000" swAng="-5400000"/>
                <a:close/>
              </a:path>
            </a:pathLst>
          </a:custGeom>
          <a:solidFill>
            <a:srgbClr val="2DD4BF"/>
          </a:solidFill>
          <a:ln/>
        </p:spPr>
      </p:sp>
      <p:sp>
        <p:nvSpPr>
          <p:cNvPr id="11" name="Text 7"/>
          <p:cNvSpPr/>
          <p:nvPr/>
        </p:nvSpPr>
        <p:spPr>
          <a:xfrm>
            <a:off x="9258300" y="1530350"/>
            <a:ext cx="2066798"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5FF"/>
                </a:solidFill>
                <a:latin typeface="Cairo" pitchFamily="34" charset="0"/>
                <a:ea typeface="Cairo" pitchFamily="34" charset="-122"/>
                <a:cs typeface="Cairo" pitchFamily="34" charset="-120"/>
              </a:rPr>
              <a:t>Built in, works offline</a:t>
            </a:r>
            <a:endParaRPr lang="en-US" sz="1200" dirty="0"/>
          </a:p>
        </p:txBody>
      </p:sp>
      <p:sp>
        <p:nvSpPr>
          <p:cNvPr id="12" name="Shape 8"/>
          <p:cNvSpPr/>
          <p:nvPr/>
        </p:nvSpPr>
        <p:spPr>
          <a:xfrm>
            <a:off x="9093200" y="1892300"/>
            <a:ext cx="2286000" cy="361950"/>
          </a:xfrm>
          <a:prstGeom prst="roundRect">
            <a:avLst>
              <a:gd name="adj" fmla="val 21053"/>
            </a:avLst>
          </a:prstGeom>
          <a:solidFill>
            <a:srgbClr val="0E1745"/>
          </a:solidFill>
          <a:ln/>
        </p:spPr>
      </p:sp>
      <p:sp>
        <p:nvSpPr>
          <p:cNvPr id="13" name="Shape 9"/>
          <p:cNvSpPr/>
          <p:nvPr/>
        </p:nvSpPr>
        <p:spPr>
          <a:xfrm>
            <a:off x="9093200" y="1892300"/>
            <a:ext cx="2286000" cy="361950"/>
          </a:xfrm>
          <a:custGeom>
            <a:avLst/>
            <a:gdLst/>
            <a:ahLst/>
            <a:cxnLst/>
            <a:rect l="l" t="t" r="r" b="b"/>
            <a:pathLst>
              <a:path w="2286000" h="361950">
                <a:moveTo>
                  <a:pt x="76200" y="361950"/>
                </a:moveTo>
                <a:lnTo>
                  <a:pt x="76200" y="361950"/>
                </a:lnTo>
                <a:arcTo hR="76200" wR="76200" stAng="5400000" swAng="5400000"/>
                <a:lnTo>
                  <a:pt x="0" y="76200"/>
                </a:lnTo>
                <a:arcTo hR="76200" wR="76200" stAng="10800000" swAng="5400000"/>
                <a:lnTo>
                  <a:pt x="76200" y="0"/>
                </a:lnTo>
                <a:arcTo hR="76200" wR="25400" stAng="16200000" swAng="-5400000"/>
                <a:lnTo>
                  <a:pt x="50800" y="285750"/>
                </a:lnTo>
                <a:arcTo hR="76200" wR="25400" stAng="10800000" swAng="-5400000"/>
                <a:close/>
              </a:path>
            </a:pathLst>
          </a:custGeom>
          <a:solidFill>
            <a:srgbClr val="5B8CFF"/>
          </a:solidFill>
          <a:ln/>
        </p:spPr>
      </p:sp>
      <p:sp>
        <p:nvSpPr>
          <p:cNvPr id="14" name="Text 10"/>
          <p:cNvSpPr/>
          <p:nvPr/>
        </p:nvSpPr>
        <p:spPr>
          <a:xfrm>
            <a:off x="9258300" y="1968500"/>
            <a:ext cx="2066798"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5FF"/>
                </a:solidFill>
                <a:latin typeface="Cairo" pitchFamily="34" charset="0"/>
                <a:ea typeface="Cairo" pitchFamily="34" charset="-122"/>
                <a:cs typeface="Cairo" pitchFamily="34" charset="-120"/>
              </a:rPr>
              <a:t>22 ready questions</a:t>
            </a:r>
            <a:endParaRPr lang="en-US" sz="1200" dirty="0"/>
          </a:p>
        </p:txBody>
      </p:sp>
      <p:sp>
        <p:nvSpPr>
          <p:cNvPr id="15" name="Shape 11"/>
          <p:cNvSpPr/>
          <p:nvPr/>
        </p:nvSpPr>
        <p:spPr>
          <a:xfrm>
            <a:off x="812800" y="4095750"/>
            <a:ext cx="5219700" cy="914400"/>
          </a:xfrm>
          <a:prstGeom prst="roundRect">
            <a:avLst>
              <a:gd name="adj" fmla="val 11111"/>
            </a:avLst>
          </a:prstGeom>
          <a:solidFill>
            <a:srgbClr val="0E1745"/>
          </a:solidFill>
          <a:ln/>
        </p:spPr>
      </p:sp>
      <p:sp>
        <p:nvSpPr>
          <p:cNvPr id="16" name="Shape 12"/>
          <p:cNvSpPr/>
          <p:nvPr/>
        </p:nvSpPr>
        <p:spPr>
          <a:xfrm>
            <a:off x="812800" y="4095750"/>
            <a:ext cx="5219700" cy="914400"/>
          </a:xfrm>
          <a:custGeom>
            <a:avLst/>
            <a:gdLst/>
            <a:ahLst/>
            <a:cxnLst/>
            <a:rect l="l" t="t" r="r" b="b"/>
            <a:pathLst>
              <a:path w="52197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2DD4BF"/>
          </a:solidFill>
          <a:ln/>
        </p:spPr>
      </p:sp>
      <p:sp>
        <p:nvSpPr>
          <p:cNvPr id="17" name="Text 13"/>
          <p:cNvSpPr/>
          <p:nvPr/>
        </p:nvSpPr>
        <p:spPr>
          <a:xfrm>
            <a:off x="1028700" y="4210050"/>
            <a:ext cx="4983861"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Built into the page: no outside AI service, no data leaves the dashboard</a:t>
            </a:r>
            <a:endParaRPr lang="en-US" sz="1300" dirty="0"/>
          </a:p>
        </p:txBody>
      </p:sp>
      <p:sp>
        <p:nvSpPr>
          <p:cNvPr id="18" name="Text 14"/>
          <p:cNvSpPr/>
          <p:nvPr/>
        </p:nvSpPr>
        <p:spPr>
          <a:xfrm>
            <a:off x="883539" y="4667250"/>
            <a:ext cx="4983861"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جوه الصفحة نفسها من غير أي خدمة خارجية والداتا مابتخرجش</a:t>
            </a:r>
            <a:endParaRPr lang="en-US" sz="1200" dirty="0"/>
          </a:p>
        </p:txBody>
      </p:sp>
      <p:sp>
        <p:nvSpPr>
          <p:cNvPr id="19" name="Shape 15"/>
          <p:cNvSpPr/>
          <p:nvPr/>
        </p:nvSpPr>
        <p:spPr>
          <a:xfrm>
            <a:off x="6159500" y="4095750"/>
            <a:ext cx="5219700" cy="914400"/>
          </a:xfrm>
          <a:prstGeom prst="roundRect">
            <a:avLst>
              <a:gd name="adj" fmla="val 11111"/>
            </a:avLst>
          </a:prstGeom>
          <a:solidFill>
            <a:srgbClr val="0E1745"/>
          </a:solidFill>
          <a:ln/>
        </p:spPr>
      </p:sp>
      <p:sp>
        <p:nvSpPr>
          <p:cNvPr id="20" name="Shape 16"/>
          <p:cNvSpPr/>
          <p:nvPr/>
        </p:nvSpPr>
        <p:spPr>
          <a:xfrm>
            <a:off x="6159500" y="4095750"/>
            <a:ext cx="5219700" cy="914400"/>
          </a:xfrm>
          <a:custGeom>
            <a:avLst/>
            <a:gdLst/>
            <a:ahLst/>
            <a:cxnLst/>
            <a:rect l="l" t="t" r="r" b="b"/>
            <a:pathLst>
              <a:path w="5219700" h="914400">
                <a:moveTo>
                  <a:pt x="101600" y="914400"/>
                </a:moveTo>
                <a:lnTo>
                  <a:pt x="101600" y="914400"/>
                </a:lnTo>
                <a:arcTo hR="101600" wR="101600" stAng="5400000" swAng="5400000"/>
                <a:lnTo>
                  <a:pt x="0" y="101600"/>
                </a:lnTo>
                <a:arcTo hR="101600" wR="101600" stAng="10800000" swAng="5400000"/>
                <a:lnTo>
                  <a:pt x="101600" y="0"/>
                </a:lnTo>
                <a:arcTo hR="101600" wR="50800" stAng="16200000" swAng="-5400000"/>
                <a:lnTo>
                  <a:pt x="50800" y="812800"/>
                </a:lnTo>
                <a:arcTo hR="101600" wR="50800" stAng="10800000" swAng="-5400000"/>
                <a:close/>
              </a:path>
            </a:pathLst>
          </a:custGeom>
          <a:solidFill>
            <a:srgbClr val="FFC233"/>
          </a:solidFill>
          <a:ln/>
        </p:spPr>
      </p:sp>
      <p:sp>
        <p:nvSpPr>
          <p:cNvPr id="21" name="Text 17"/>
          <p:cNvSpPr/>
          <p:nvPr/>
        </p:nvSpPr>
        <p:spPr>
          <a:xfrm>
            <a:off x="6375400" y="4210050"/>
            <a:ext cx="4983861"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Rule-based, answers in Arabic or English, one click makes a purchase order or a task list</a:t>
            </a:r>
            <a:endParaRPr lang="en-US" sz="1300" dirty="0"/>
          </a:p>
        </p:txBody>
      </p:sp>
      <p:sp>
        <p:nvSpPr>
          <p:cNvPr id="22" name="Text 18"/>
          <p:cNvSpPr/>
          <p:nvPr/>
        </p:nvSpPr>
        <p:spPr>
          <a:xfrm>
            <a:off x="6230239" y="4667250"/>
            <a:ext cx="4983861"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بيرد عربي أو إنجليزي وبضغطة بيطلع أمر شراء أو قائمة مهام</a:t>
            </a:r>
            <a:endParaRPr lang="en-US" sz="1200" dirty="0"/>
          </a:p>
        </p:txBody>
      </p:sp>
      <p:sp>
        <p:nvSpPr>
          <p:cNvPr id="23" name="Text 19"/>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457242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DESIGN</a:t>
            </a:r>
            <a:endParaRPr lang="en-US" sz="1200" dirty="0"/>
          </a:p>
        </p:txBody>
      </p:sp>
      <p:sp>
        <p:nvSpPr>
          <p:cNvPr id="3" name="Text 1"/>
          <p:cNvSpPr/>
          <p:nvPr>
            <p:ph type="title"/>
          </p:nvPr>
        </p:nvSpPr>
        <p:spPr>
          <a:xfrm>
            <a:off x="812800" y="857250"/>
            <a:ext cx="532709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Dark, light and phone</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داكن وفاتح وموبايل</a:t>
            </a:r>
            <a:endParaRPr lang="en-US" sz="1800" dirty="0"/>
          </a:p>
        </p:txBody>
      </p:sp>
      <p:pic>
        <p:nvPicPr>
          <p:cNvPr id="5" name="Image 0" descr="Dark theme">    </p:cNvPr>
          <p:cNvPicPr>
            <a:picLocks noChangeAspect="1"/>
          </p:cNvPicPr>
          <p:nvPr/>
        </p:nvPicPr>
        <p:blipFill>
          <a:blip r:embed="rId1"/>
          <a:srcRect l="-217" r="-217" t="0" b="0"/>
          <a:stretch/>
        </p:blipFill>
        <p:spPr>
          <a:xfrm>
            <a:off x="825500" y="1466850"/>
            <a:ext cx="3530600" cy="2197100"/>
          </a:xfrm>
          <a:prstGeom prst="roundRect">
            <a:avLst>
              <a:gd name="adj" fmla="val 4046"/>
            </a:avLst>
          </a:prstGeom>
        </p:spPr>
      </p:pic>
      <p:sp>
        <p:nvSpPr>
          <p:cNvPr id="6" name="Shape 3"/>
          <p:cNvSpPr/>
          <p:nvPr/>
        </p:nvSpPr>
        <p:spPr>
          <a:xfrm>
            <a:off x="819150" y="1460500"/>
            <a:ext cx="3543300" cy="2209800"/>
          </a:xfrm>
          <a:prstGeom prst="roundRect">
            <a:avLst>
              <a:gd name="adj" fmla="val 4310"/>
            </a:avLst>
          </a:prstGeom>
          <a:noFill/>
          <a:ln w="12700">
            <a:solidFill>
              <a:srgbClr val="2A3A8A"/>
            </a:solidFill>
            <a:prstDash val="solid"/>
          </a:ln>
        </p:spPr>
      </p:sp>
      <p:sp>
        <p:nvSpPr>
          <p:cNvPr id="7" name="Text 4"/>
          <p:cNvSpPr/>
          <p:nvPr/>
        </p:nvSpPr>
        <p:spPr>
          <a:xfrm>
            <a:off x="759460" y="3740150"/>
            <a:ext cx="366268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F"/>
                </a:solidFill>
                <a:latin typeface="Cairo" pitchFamily="34" charset="0"/>
                <a:ea typeface="Cairo" pitchFamily="34" charset="-122"/>
                <a:cs typeface="Cairo" pitchFamily="34" charset="-120"/>
              </a:rPr>
              <a:t>Dark (default)</a:t>
            </a:r>
            <a:endParaRPr lang="en-US" sz="1200" dirty="0"/>
          </a:p>
        </p:txBody>
      </p:sp>
      <p:pic>
        <p:nvPicPr>
          <p:cNvPr id="8" name="Image 1" descr="Light theme">    </p:cNvPr>
          <p:cNvPicPr>
            <a:picLocks noChangeAspect="1"/>
          </p:cNvPicPr>
          <p:nvPr/>
        </p:nvPicPr>
        <p:blipFill>
          <a:blip r:embed="rId2"/>
          <a:srcRect l="-217" r="-217" t="0" b="0"/>
          <a:stretch/>
        </p:blipFill>
        <p:spPr>
          <a:xfrm>
            <a:off x="4559300" y="1466850"/>
            <a:ext cx="3530600" cy="2197100"/>
          </a:xfrm>
          <a:prstGeom prst="roundRect">
            <a:avLst>
              <a:gd name="adj" fmla="val 4046"/>
            </a:avLst>
          </a:prstGeom>
        </p:spPr>
      </p:pic>
      <p:sp>
        <p:nvSpPr>
          <p:cNvPr id="9" name="Shape 5"/>
          <p:cNvSpPr/>
          <p:nvPr/>
        </p:nvSpPr>
        <p:spPr>
          <a:xfrm>
            <a:off x="4552950" y="1460500"/>
            <a:ext cx="3543300" cy="2209800"/>
          </a:xfrm>
          <a:prstGeom prst="roundRect">
            <a:avLst>
              <a:gd name="adj" fmla="val 4310"/>
            </a:avLst>
          </a:prstGeom>
          <a:noFill/>
          <a:ln w="12700">
            <a:solidFill>
              <a:srgbClr val="2A3A8A"/>
            </a:solidFill>
            <a:prstDash val="solid"/>
          </a:ln>
        </p:spPr>
      </p:sp>
      <p:sp>
        <p:nvSpPr>
          <p:cNvPr id="10" name="Text 6"/>
          <p:cNvSpPr/>
          <p:nvPr/>
        </p:nvSpPr>
        <p:spPr>
          <a:xfrm>
            <a:off x="4493260" y="3740150"/>
            <a:ext cx="366268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F"/>
                </a:solidFill>
                <a:latin typeface="Cairo" pitchFamily="34" charset="0"/>
                <a:ea typeface="Cairo" pitchFamily="34" charset="-122"/>
                <a:cs typeface="Cairo" pitchFamily="34" charset="-120"/>
              </a:rPr>
              <a:t>Light</a:t>
            </a:r>
            <a:endParaRPr lang="en-US" sz="1200" dirty="0"/>
          </a:p>
        </p:txBody>
      </p:sp>
      <p:pic>
        <p:nvPicPr>
          <p:cNvPr id="11" name="Image 2" descr="Phone layout">    </p:cNvPr>
          <p:cNvPicPr>
            <a:picLocks noChangeAspect="1"/>
          </p:cNvPicPr>
          <p:nvPr/>
        </p:nvPicPr>
        <p:blipFill>
          <a:blip r:embed="rId3"/>
          <a:stretch>
            <a:fillRect/>
          </a:stretch>
        </p:blipFill>
        <p:spPr>
          <a:xfrm>
            <a:off x="8439526" y="1466850"/>
            <a:ext cx="1015248" cy="2197100"/>
          </a:xfrm>
          <a:prstGeom prst="rect">
            <a:avLst/>
          </a:prstGeom>
        </p:spPr>
      </p:pic>
      <p:sp>
        <p:nvSpPr>
          <p:cNvPr id="12" name="Shape 7"/>
          <p:cNvSpPr/>
          <p:nvPr/>
        </p:nvSpPr>
        <p:spPr>
          <a:xfrm>
            <a:off x="8286750" y="1460500"/>
            <a:ext cx="1320800" cy="2209800"/>
          </a:xfrm>
          <a:prstGeom prst="roundRect">
            <a:avLst>
              <a:gd name="adj" fmla="val 7212"/>
            </a:avLst>
          </a:prstGeom>
          <a:noFill/>
          <a:ln w="12700">
            <a:solidFill>
              <a:srgbClr val="2A3A8A"/>
            </a:solidFill>
            <a:prstDash val="solid"/>
          </a:ln>
        </p:spPr>
      </p:sp>
      <p:sp>
        <p:nvSpPr>
          <p:cNvPr id="13" name="Text 8"/>
          <p:cNvSpPr/>
          <p:nvPr/>
        </p:nvSpPr>
        <p:spPr>
          <a:xfrm>
            <a:off x="8255000" y="3740150"/>
            <a:ext cx="13843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F"/>
                </a:solidFill>
                <a:latin typeface="Cairo" pitchFamily="34" charset="0"/>
                <a:ea typeface="Cairo" pitchFamily="34" charset="-122"/>
                <a:cs typeface="Cairo" pitchFamily="34" charset="-120"/>
              </a:rPr>
              <a:t>Phone</a:t>
            </a:r>
            <a:endParaRPr lang="en-US" sz="1200" dirty="0"/>
          </a:p>
        </p:txBody>
      </p:sp>
      <p:sp>
        <p:nvSpPr>
          <p:cNvPr id="14" name="Shape 9"/>
          <p:cNvSpPr/>
          <p:nvPr/>
        </p:nvSpPr>
        <p:spPr>
          <a:xfrm>
            <a:off x="812800" y="4127500"/>
            <a:ext cx="5219700" cy="704850"/>
          </a:xfrm>
          <a:prstGeom prst="roundRect">
            <a:avLst>
              <a:gd name="adj" fmla="val 14414"/>
            </a:avLst>
          </a:prstGeom>
          <a:solidFill>
            <a:srgbClr val="0E1745"/>
          </a:solidFill>
          <a:ln/>
        </p:spPr>
      </p:sp>
      <p:sp>
        <p:nvSpPr>
          <p:cNvPr id="15" name="Shape 10"/>
          <p:cNvSpPr/>
          <p:nvPr/>
        </p:nvSpPr>
        <p:spPr>
          <a:xfrm>
            <a:off x="812800" y="4127500"/>
            <a:ext cx="5219700" cy="704850"/>
          </a:xfrm>
          <a:custGeom>
            <a:avLst/>
            <a:gdLst/>
            <a:ahLst/>
            <a:cxnLst/>
            <a:rect l="l" t="t" r="r" b="b"/>
            <a:pathLst>
              <a:path w="52197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5B8CFF"/>
          </a:solidFill>
          <a:ln/>
        </p:spPr>
      </p:sp>
      <p:sp>
        <p:nvSpPr>
          <p:cNvPr id="16" name="Text 11"/>
          <p:cNvSpPr/>
          <p:nvPr/>
        </p:nvSpPr>
        <p:spPr>
          <a:xfrm>
            <a:off x="1028700" y="4241800"/>
            <a:ext cx="50038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Every panel has a short Arabic note so the client reads it without help</a:t>
            </a:r>
            <a:endParaRPr lang="en-US" sz="1300" dirty="0"/>
          </a:p>
        </p:txBody>
      </p:sp>
      <p:sp>
        <p:nvSpPr>
          <p:cNvPr id="17" name="Text 12"/>
          <p:cNvSpPr/>
          <p:nvPr/>
        </p:nvSpPr>
        <p:spPr>
          <a:xfrm>
            <a:off x="883539" y="4489450"/>
            <a:ext cx="4983861"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كل لوحة عليها شرح عربي صغير يفهمه العميل لوحده</a:t>
            </a:r>
            <a:endParaRPr lang="en-US" sz="1200" dirty="0"/>
          </a:p>
        </p:txBody>
      </p:sp>
      <p:sp>
        <p:nvSpPr>
          <p:cNvPr id="18" name="Shape 13"/>
          <p:cNvSpPr/>
          <p:nvPr/>
        </p:nvSpPr>
        <p:spPr>
          <a:xfrm>
            <a:off x="6159500" y="4127500"/>
            <a:ext cx="5219700" cy="704850"/>
          </a:xfrm>
          <a:prstGeom prst="roundRect">
            <a:avLst>
              <a:gd name="adj" fmla="val 14414"/>
            </a:avLst>
          </a:prstGeom>
          <a:solidFill>
            <a:srgbClr val="0E1745"/>
          </a:solidFill>
          <a:ln/>
        </p:spPr>
      </p:sp>
      <p:sp>
        <p:nvSpPr>
          <p:cNvPr id="19" name="Shape 14"/>
          <p:cNvSpPr/>
          <p:nvPr/>
        </p:nvSpPr>
        <p:spPr>
          <a:xfrm>
            <a:off x="6159500" y="4127500"/>
            <a:ext cx="5219700" cy="704850"/>
          </a:xfrm>
          <a:custGeom>
            <a:avLst/>
            <a:gdLst/>
            <a:ahLst/>
            <a:cxnLst/>
            <a:rect l="l" t="t" r="r" b="b"/>
            <a:pathLst>
              <a:path w="52197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2DD4BF"/>
          </a:solidFill>
          <a:ln/>
        </p:spPr>
      </p:sp>
      <p:sp>
        <p:nvSpPr>
          <p:cNvPr id="20" name="Text 15"/>
          <p:cNvSpPr/>
          <p:nvPr/>
        </p:nvSpPr>
        <p:spPr>
          <a:xfrm>
            <a:off x="6375400" y="4241800"/>
            <a:ext cx="4983861"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Each app opens with the problem and a Do this button</a:t>
            </a:r>
            <a:endParaRPr lang="en-US" sz="1300" dirty="0"/>
          </a:p>
        </p:txBody>
      </p:sp>
      <p:sp>
        <p:nvSpPr>
          <p:cNvPr id="21" name="Text 16"/>
          <p:cNvSpPr/>
          <p:nvPr/>
        </p:nvSpPr>
        <p:spPr>
          <a:xfrm>
            <a:off x="6230239" y="4489450"/>
            <a:ext cx="4983861"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كل تطبيق يبدأ بالمشكلة وزر الإجراء المطلوب</a:t>
            </a:r>
            <a:endParaRPr lang="en-US" sz="1200" dirty="0"/>
          </a:p>
        </p:txBody>
      </p:sp>
      <p:sp>
        <p:nvSpPr>
          <p:cNvPr id="22" name="Text 17"/>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6692873"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C233"/>
                </a:solidFill>
                <a:latin typeface="Cairo" pitchFamily="34" charset="0"/>
                <a:ea typeface="Cairo" pitchFamily="34" charset="-122"/>
                <a:cs typeface="Cairo" pitchFamily="34" charset="-120"/>
              </a:rPr>
              <a:t>DATA QUALITY · READ BEFORE ACTING</a:t>
            </a:r>
            <a:endParaRPr lang="en-US" sz="1200" dirty="0"/>
          </a:p>
        </p:txBody>
      </p:sp>
      <p:sp>
        <p:nvSpPr>
          <p:cNvPr id="3" name="Text 1"/>
          <p:cNvSpPr/>
          <p:nvPr>
            <p:ph type="title"/>
          </p:nvPr>
        </p:nvSpPr>
        <p:spPr>
          <a:xfrm>
            <a:off x="812800" y="857250"/>
            <a:ext cx="690372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What the data cannot yet prove</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اللي الداتا لسه ماتأكدش منه</a:t>
            </a:r>
            <a:endParaRPr lang="en-US" sz="1800" dirty="0"/>
          </a:p>
        </p:txBody>
      </p:sp>
      <p:sp>
        <p:nvSpPr>
          <p:cNvPr id="5" name="Shape 3"/>
          <p:cNvSpPr/>
          <p:nvPr/>
        </p:nvSpPr>
        <p:spPr>
          <a:xfrm>
            <a:off x="812800" y="1428750"/>
            <a:ext cx="5232400" cy="622300"/>
          </a:xfrm>
          <a:prstGeom prst="roundRect">
            <a:avLst>
              <a:gd name="adj" fmla="val 16327"/>
            </a:avLst>
          </a:prstGeom>
          <a:solidFill>
            <a:srgbClr val="0E1745"/>
          </a:solidFill>
          <a:ln/>
        </p:spPr>
      </p:sp>
      <p:sp>
        <p:nvSpPr>
          <p:cNvPr id="6" name="Shape 4"/>
          <p:cNvSpPr/>
          <p:nvPr/>
        </p:nvSpPr>
        <p:spPr>
          <a:xfrm>
            <a:off x="812800" y="1428750"/>
            <a:ext cx="5232400" cy="622300"/>
          </a:xfrm>
          <a:custGeom>
            <a:avLst/>
            <a:gdLst/>
            <a:ahLst/>
            <a:cxnLst/>
            <a:rect l="l" t="t" r="r" b="b"/>
            <a:pathLst>
              <a:path w="5232400" h="622300">
                <a:moveTo>
                  <a:pt x="101600" y="622300"/>
                </a:moveTo>
                <a:lnTo>
                  <a:pt x="101600" y="622300"/>
                </a:lnTo>
                <a:arcTo hR="101600" wR="101600" stAng="5400000" swAng="5400000"/>
                <a:lnTo>
                  <a:pt x="0" y="101600"/>
                </a:lnTo>
                <a:arcTo hR="101600" wR="101600" stAng="10800000" swAng="5400000"/>
                <a:lnTo>
                  <a:pt x="101600" y="0"/>
                </a:lnTo>
                <a:arcTo hR="101600" wR="50800" stAng="16200000" swAng="-5400000"/>
                <a:lnTo>
                  <a:pt x="50800" y="520700"/>
                </a:lnTo>
                <a:arcTo hR="101600" wR="50800" stAng="10800000" swAng="-5400000"/>
                <a:close/>
              </a:path>
            </a:pathLst>
          </a:custGeom>
          <a:solidFill>
            <a:srgbClr val="FF4D5E"/>
          </a:solidFill>
          <a:ln/>
        </p:spPr>
      </p:sp>
      <p:sp>
        <p:nvSpPr>
          <p:cNvPr id="7" name="Text 5"/>
          <p:cNvSpPr/>
          <p:nvPr/>
        </p:nvSpPr>
        <p:spPr>
          <a:xfrm>
            <a:off x="1016000" y="1517650"/>
            <a:ext cx="50292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Production 6.27M units vs 3.27M and 1.66M sold in two other tables</a:t>
            </a:r>
            <a:endParaRPr lang="en-US" sz="1300" dirty="0"/>
          </a:p>
        </p:txBody>
      </p:sp>
      <p:sp>
        <p:nvSpPr>
          <p:cNvPr id="8" name="Text 6"/>
          <p:cNvSpPr/>
          <p:nvPr/>
        </p:nvSpPr>
        <p:spPr>
          <a:xfrm>
            <a:off x="869696" y="1752600"/>
            <a:ext cx="502310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الإنتاج 6.27 مليون وحدة مقابل 3.27 و1.66 مليون مبيعات</a:t>
            </a:r>
            <a:endParaRPr lang="en-US" sz="1200" dirty="0"/>
          </a:p>
        </p:txBody>
      </p:sp>
      <p:sp>
        <p:nvSpPr>
          <p:cNvPr id="9" name="Shape 7"/>
          <p:cNvSpPr/>
          <p:nvPr/>
        </p:nvSpPr>
        <p:spPr>
          <a:xfrm>
            <a:off x="6146800" y="1428750"/>
            <a:ext cx="5232400" cy="622300"/>
          </a:xfrm>
          <a:prstGeom prst="roundRect">
            <a:avLst>
              <a:gd name="adj" fmla="val 16327"/>
            </a:avLst>
          </a:prstGeom>
          <a:solidFill>
            <a:srgbClr val="0E1745"/>
          </a:solidFill>
          <a:ln/>
        </p:spPr>
      </p:sp>
      <p:sp>
        <p:nvSpPr>
          <p:cNvPr id="10" name="Shape 8"/>
          <p:cNvSpPr/>
          <p:nvPr/>
        </p:nvSpPr>
        <p:spPr>
          <a:xfrm>
            <a:off x="6146800" y="1428750"/>
            <a:ext cx="5232400" cy="622300"/>
          </a:xfrm>
          <a:custGeom>
            <a:avLst/>
            <a:gdLst/>
            <a:ahLst/>
            <a:cxnLst/>
            <a:rect l="l" t="t" r="r" b="b"/>
            <a:pathLst>
              <a:path w="5232400" h="622300">
                <a:moveTo>
                  <a:pt x="101600" y="622300"/>
                </a:moveTo>
                <a:lnTo>
                  <a:pt x="101600" y="622300"/>
                </a:lnTo>
                <a:arcTo hR="101600" wR="101600" stAng="5400000" swAng="5400000"/>
                <a:lnTo>
                  <a:pt x="0" y="101600"/>
                </a:lnTo>
                <a:arcTo hR="101600" wR="101600" stAng="10800000" swAng="5400000"/>
                <a:lnTo>
                  <a:pt x="101600" y="0"/>
                </a:lnTo>
                <a:arcTo hR="101600" wR="50800" stAng="16200000" swAng="-5400000"/>
                <a:lnTo>
                  <a:pt x="50800" y="520700"/>
                </a:lnTo>
                <a:arcTo hR="101600" wR="50800" stAng="10800000" swAng="-5400000"/>
                <a:close/>
              </a:path>
            </a:pathLst>
          </a:custGeom>
          <a:solidFill>
            <a:srgbClr val="FF4D5E"/>
          </a:solidFill>
          <a:ln/>
        </p:spPr>
      </p:sp>
      <p:sp>
        <p:nvSpPr>
          <p:cNvPr id="11" name="Text 9"/>
          <p:cNvSpPr/>
          <p:nvPr/>
        </p:nvSpPr>
        <p:spPr>
          <a:xfrm>
            <a:off x="6350000" y="1517650"/>
            <a:ext cx="5023104"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Marketing attributed EGP 179.7M vs online sales EGP 32.6M</a:t>
            </a:r>
            <a:endParaRPr lang="en-US" sz="1300" dirty="0"/>
          </a:p>
        </p:txBody>
      </p:sp>
      <p:sp>
        <p:nvSpPr>
          <p:cNvPr id="12" name="Text 10"/>
          <p:cNvSpPr/>
          <p:nvPr/>
        </p:nvSpPr>
        <p:spPr>
          <a:xfrm>
            <a:off x="6203696" y="1752600"/>
            <a:ext cx="502310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المنسوب للتسويق 179.7 مليون مقابل 32.6 مليون أونلاين</a:t>
            </a:r>
            <a:endParaRPr lang="en-US" sz="1200" dirty="0"/>
          </a:p>
        </p:txBody>
      </p:sp>
      <p:sp>
        <p:nvSpPr>
          <p:cNvPr id="13" name="Shape 11"/>
          <p:cNvSpPr/>
          <p:nvPr/>
        </p:nvSpPr>
        <p:spPr>
          <a:xfrm>
            <a:off x="812800" y="2152650"/>
            <a:ext cx="5232400" cy="831850"/>
          </a:xfrm>
          <a:prstGeom prst="roundRect">
            <a:avLst>
              <a:gd name="adj" fmla="val 12214"/>
            </a:avLst>
          </a:prstGeom>
          <a:solidFill>
            <a:srgbClr val="0E1745"/>
          </a:solidFill>
          <a:ln/>
        </p:spPr>
      </p:sp>
      <p:sp>
        <p:nvSpPr>
          <p:cNvPr id="14" name="Shape 12"/>
          <p:cNvSpPr/>
          <p:nvPr/>
        </p:nvSpPr>
        <p:spPr>
          <a:xfrm>
            <a:off x="812800" y="2152650"/>
            <a:ext cx="5232400" cy="831850"/>
          </a:xfrm>
          <a:custGeom>
            <a:avLst/>
            <a:gdLst/>
            <a:ahLst/>
            <a:cxnLst/>
            <a:rect l="l" t="t" r="r" b="b"/>
            <a:pathLst>
              <a:path w="5232400" h="831850">
                <a:moveTo>
                  <a:pt x="101600" y="831850"/>
                </a:moveTo>
                <a:lnTo>
                  <a:pt x="101600" y="831850"/>
                </a:lnTo>
                <a:arcTo hR="101600" wR="101600" stAng="5400000" swAng="5400000"/>
                <a:lnTo>
                  <a:pt x="0" y="101600"/>
                </a:lnTo>
                <a:arcTo hR="101600" wR="101600" stAng="10800000" swAng="5400000"/>
                <a:lnTo>
                  <a:pt x="101600" y="0"/>
                </a:lnTo>
                <a:arcTo hR="101600" wR="50800" stAng="16200000" swAng="-5400000"/>
                <a:lnTo>
                  <a:pt x="50800" y="730250"/>
                </a:lnTo>
                <a:arcTo hR="101600" wR="50800" stAng="10800000" swAng="-5400000"/>
                <a:close/>
              </a:path>
            </a:pathLst>
          </a:custGeom>
          <a:solidFill>
            <a:srgbClr val="FFC233"/>
          </a:solidFill>
          <a:ln/>
        </p:spPr>
      </p:sp>
      <p:sp>
        <p:nvSpPr>
          <p:cNvPr id="15" name="Text 13"/>
          <p:cNvSpPr/>
          <p:nvPr/>
        </p:nvSpPr>
        <p:spPr>
          <a:xfrm>
            <a:off x="1016000" y="2241550"/>
            <a:ext cx="5023104"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Purchase spend EGP 884.8M vs EGP 168.6M implied by recipes</a:t>
            </a:r>
            <a:endParaRPr lang="en-US" sz="1300" dirty="0"/>
          </a:p>
        </p:txBody>
      </p:sp>
      <p:sp>
        <p:nvSpPr>
          <p:cNvPr id="16" name="Text 14"/>
          <p:cNvSpPr/>
          <p:nvPr/>
        </p:nvSpPr>
        <p:spPr>
          <a:xfrm>
            <a:off x="869696" y="2476500"/>
            <a:ext cx="502310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إنفاق الشراء 884.8 مليون مقابل 168.6 مليون حسب التركيبات</a:t>
            </a:r>
            <a:endParaRPr lang="en-US" sz="1200" dirty="0"/>
          </a:p>
        </p:txBody>
      </p:sp>
      <p:sp>
        <p:nvSpPr>
          <p:cNvPr id="17" name="Shape 15"/>
          <p:cNvSpPr/>
          <p:nvPr/>
        </p:nvSpPr>
        <p:spPr>
          <a:xfrm>
            <a:off x="6146800" y="2152650"/>
            <a:ext cx="5232400" cy="831850"/>
          </a:xfrm>
          <a:prstGeom prst="roundRect">
            <a:avLst>
              <a:gd name="adj" fmla="val 12214"/>
            </a:avLst>
          </a:prstGeom>
          <a:solidFill>
            <a:srgbClr val="0E1745"/>
          </a:solidFill>
          <a:ln/>
        </p:spPr>
      </p:sp>
      <p:sp>
        <p:nvSpPr>
          <p:cNvPr id="18" name="Shape 16"/>
          <p:cNvSpPr/>
          <p:nvPr/>
        </p:nvSpPr>
        <p:spPr>
          <a:xfrm>
            <a:off x="6146800" y="2152650"/>
            <a:ext cx="5232400" cy="831850"/>
          </a:xfrm>
          <a:custGeom>
            <a:avLst/>
            <a:gdLst/>
            <a:ahLst/>
            <a:cxnLst/>
            <a:rect l="l" t="t" r="r" b="b"/>
            <a:pathLst>
              <a:path w="5232400" h="831850">
                <a:moveTo>
                  <a:pt x="101600" y="831850"/>
                </a:moveTo>
                <a:lnTo>
                  <a:pt x="101600" y="831850"/>
                </a:lnTo>
                <a:arcTo hR="101600" wR="101600" stAng="5400000" swAng="5400000"/>
                <a:lnTo>
                  <a:pt x="0" y="101600"/>
                </a:lnTo>
                <a:arcTo hR="101600" wR="101600" stAng="10800000" swAng="5400000"/>
                <a:lnTo>
                  <a:pt x="101600" y="0"/>
                </a:lnTo>
                <a:arcTo hR="101600" wR="50800" stAng="16200000" swAng="-5400000"/>
                <a:lnTo>
                  <a:pt x="50800" y="730250"/>
                </a:lnTo>
                <a:arcTo hR="101600" wR="50800" stAng="10800000" swAng="-5400000"/>
                <a:close/>
              </a:path>
            </a:pathLst>
          </a:custGeom>
          <a:solidFill>
            <a:srgbClr val="FFC233"/>
          </a:solidFill>
          <a:ln/>
        </p:spPr>
      </p:sp>
      <p:sp>
        <p:nvSpPr>
          <p:cNvPr id="19" name="Text 17"/>
          <p:cNvSpPr/>
          <p:nvPr/>
        </p:nvSpPr>
        <p:spPr>
          <a:xfrm>
            <a:off x="6350000" y="2241550"/>
            <a:ext cx="5023104"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Clicks equal sessions on every campaign, which real tracking never does</a:t>
            </a:r>
            <a:endParaRPr lang="en-US" sz="1300" dirty="0"/>
          </a:p>
        </p:txBody>
      </p:sp>
      <p:sp>
        <p:nvSpPr>
          <p:cNvPr id="20" name="Text 18"/>
          <p:cNvSpPr/>
          <p:nvPr/>
        </p:nvSpPr>
        <p:spPr>
          <a:xfrm>
            <a:off x="6203696" y="2686050"/>
            <a:ext cx="502310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النقرات تساوي الجلسات في كل الحملات وده مش طبيعي</a:t>
            </a:r>
            <a:endParaRPr lang="en-US" sz="1200" dirty="0"/>
          </a:p>
        </p:txBody>
      </p:sp>
      <p:sp>
        <p:nvSpPr>
          <p:cNvPr id="21" name="Shape 19"/>
          <p:cNvSpPr/>
          <p:nvPr/>
        </p:nvSpPr>
        <p:spPr>
          <a:xfrm>
            <a:off x="812800" y="3086100"/>
            <a:ext cx="5232400" cy="831850"/>
          </a:xfrm>
          <a:prstGeom prst="roundRect">
            <a:avLst>
              <a:gd name="adj" fmla="val 12214"/>
            </a:avLst>
          </a:prstGeom>
          <a:solidFill>
            <a:srgbClr val="0E1745"/>
          </a:solidFill>
          <a:ln/>
        </p:spPr>
      </p:sp>
      <p:sp>
        <p:nvSpPr>
          <p:cNvPr id="22" name="Shape 20"/>
          <p:cNvSpPr/>
          <p:nvPr/>
        </p:nvSpPr>
        <p:spPr>
          <a:xfrm>
            <a:off x="812800" y="3086100"/>
            <a:ext cx="5232400" cy="831850"/>
          </a:xfrm>
          <a:custGeom>
            <a:avLst/>
            <a:gdLst/>
            <a:ahLst/>
            <a:cxnLst/>
            <a:rect l="l" t="t" r="r" b="b"/>
            <a:pathLst>
              <a:path w="5232400" h="831850">
                <a:moveTo>
                  <a:pt x="101600" y="831850"/>
                </a:moveTo>
                <a:lnTo>
                  <a:pt x="101600" y="831850"/>
                </a:lnTo>
                <a:arcTo hR="101600" wR="101600" stAng="5400000" swAng="5400000"/>
                <a:lnTo>
                  <a:pt x="0" y="101600"/>
                </a:lnTo>
                <a:arcTo hR="101600" wR="101600" stAng="10800000" swAng="5400000"/>
                <a:lnTo>
                  <a:pt x="101600" y="0"/>
                </a:lnTo>
                <a:arcTo hR="101600" wR="50800" stAng="16200000" swAng="-5400000"/>
                <a:lnTo>
                  <a:pt x="50800" y="730250"/>
                </a:lnTo>
                <a:arcTo hR="101600" wR="50800" stAng="10800000" swAng="-5400000"/>
                <a:close/>
              </a:path>
            </a:pathLst>
          </a:custGeom>
          <a:solidFill>
            <a:srgbClr val="FFC233"/>
          </a:solidFill>
          <a:ln/>
        </p:spPr>
      </p:sp>
      <p:sp>
        <p:nvSpPr>
          <p:cNvPr id="23" name="Text 21"/>
          <p:cNvSpPr/>
          <p:nvPr/>
        </p:nvSpPr>
        <p:spPr>
          <a:xfrm>
            <a:off x="1016000" y="3175000"/>
            <a:ext cx="5023104"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Quality-control reject rate flat at 2.38–2.45%; 147 balance mismatches</a:t>
            </a:r>
            <a:endParaRPr lang="en-US" sz="1300" dirty="0"/>
          </a:p>
        </p:txBody>
      </p:sp>
      <p:sp>
        <p:nvSpPr>
          <p:cNvPr id="24" name="Text 22"/>
          <p:cNvSpPr/>
          <p:nvPr/>
        </p:nvSpPr>
        <p:spPr>
          <a:xfrm>
            <a:off x="869696" y="3619500"/>
            <a:ext cx="502310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نسبة الرفض ثابتة تقريباً و147 فرق في أرصدة المخزون</a:t>
            </a:r>
            <a:endParaRPr lang="en-US" sz="1200" dirty="0"/>
          </a:p>
        </p:txBody>
      </p:sp>
      <p:sp>
        <p:nvSpPr>
          <p:cNvPr id="25" name="Shape 23"/>
          <p:cNvSpPr/>
          <p:nvPr/>
        </p:nvSpPr>
        <p:spPr>
          <a:xfrm>
            <a:off x="6146800" y="3086100"/>
            <a:ext cx="5232400" cy="831850"/>
          </a:xfrm>
          <a:prstGeom prst="roundRect">
            <a:avLst>
              <a:gd name="adj" fmla="val 12214"/>
            </a:avLst>
          </a:prstGeom>
          <a:solidFill>
            <a:srgbClr val="0E1745"/>
          </a:solidFill>
          <a:ln/>
        </p:spPr>
      </p:sp>
      <p:sp>
        <p:nvSpPr>
          <p:cNvPr id="26" name="Shape 24"/>
          <p:cNvSpPr/>
          <p:nvPr/>
        </p:nvSpPr>
        <p:spPr>
          <a:xfrm>
            <a:off x="6146800" y="3086100"/>
            <a:ext cx="5232400" cy="831850"/>
          </a:xfrm>
          <a:custGeom>
            <a:avLst/>
            <a:gdLst/>
            <a:ahLst/>
            <a:cxnLst/>
            <a:rect l="l" t="t" r="r" b="b"/>
            <a:pathLst>
              <a:path w="5232400" h="831850">
                <a:moveTo>
                  <a:pt x="101600" y="831850"/>
                </a:moveTo>
                <a:lnTo>
                  <a:pt x="101600" y="831850"/>
                </a:lnTo>
                <a:arcTo hR="101600" wR="101600" stAng="5400000" swAng="5400000"/>
                <a:lnTo>
                  <a:pt x="0" y="101600"/>
                </a:lnTo>
                <a:arcTo hR="101600" wR="101600" stAng="10800000" swAng="5400000"/>
                <a:lnTo>
                  <a:pt x="101600" y="0"/>
                </a:lnTo>
                <a:arcTo hR="101600" wR="50800" stAng="16200000" swAng="-5400000"/>
                <a:lnTo>
                  <a:pt x="50800" y="730250"/>
                </a:lnTo>
                <a:arcTo hR="101600" wR="50800" stAng="10800000" swAng="-5400000"/>
                <a:close/>
              </a:path>
            </a:pathLst>
          </a:custGeom>
          <a:solidFill>
            <a:srgbClr val="5B8CFF"/>
          </a:solidFill>
          <a:ln/>
        </p:spPr>
      </p:sp>
      <p:sp>
        <p:nvSpPr>
          <p:cNvPr id="27" name="Text 25"/>
          <p:cNvSpPr/>
          <p:nvPr/>
        </p:nvSpPr>
        <p:spPr>
          <a:xfrm>
            <a:off x="6350000" y="3175000"/>
            <a:ext cx="5023104"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Two files missing: Business_Units and Sources</a:t>
            </a:r>
            <a:endParaRPr lang="en-US" sz="1300" dirty="0"/>
          </a:p>
        </p:txBody>
      </p:sp>
      <p:sp>
        <p:nvSpPr>
          <p:cNvPr id="28" name="Text 26"/>
          <p:cNvSpPr/>
          <p:nvPr/>
        </p:nvSpPr>
        <p:spPr>
          <a:xfrm>
            <a:off x="6203696" y="3409950"/>
            <a:ext cx="502310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ملفين ناقصين وحدات الأعمال والمصادر</a:t>
            </a:r>
            <a:endParaRPr lang="en-US" sz="1200" dirty="0"/>
          </a:p>
        </p:txBody>
      </p:sp>
      <p:sp>
        <p:nvSpPr>
          <p:cNvPr id="29" name="Text 27"/>
          <p:cNvSpPr/>
          <p:nvPr/>
        </p:nvSpPr>
        <p:spPr>
          <a:xfrm>
            <a:off x="812800" y="4070350"/>
            <a:ext cx="10883392"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FE6"/>
                </a:solidFill>
                <a:latin typeface="Cairo" pitchFamily="34" charset="0"/>
                <a:ea typeface="Cairo" pitchFamily="34" charset="-122"/>
                <a:cs typeface="Cairo" pitchFamily="34" charset="-120"/>
              </a:rPr>
              <a:t>The data looks modeled, not exported from a live system. Treat figures as direction, and confirm on real records before big spending.</a:t>
            </a:r>
            <a:endParaRPr lang="en-US" sz="1300" dirty="0"/>
          </a:p>
        </p:txBody>
      </p:sp>
      <p:sp>
        <p:nvSpPr>
          <p:cNvPr id="30" name="Text 28"/>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5172820"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CONCLUSIONS</a:t>
            </a:r>
            <a:endParaRPr lang="en-US" sz="1200" dirty="0"/>
          </a:p>
        </p:txBody>
      </p:sp>
      <p:sp>
        <p:nvSpPr>
          <p:cNvPr id="3" name="Text 1"/>
          <p:cNvSpPr/>
          <p:nvPr>
            <p:ph type="title"/>
          </p:nvPr>
        </p:nvSpPr>
        <p:spPr>
          <a:xfrm>
            <a:off x="812800" y="857250"/>
            <a:ext cx="6026587"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Five things to remember</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خمس حاجات تفتكرها</a:t>
            </a:r>
            <a:endParaRPr lang="en-US" sz="1800" dirty="0"/>
          </a:p>
        </p:txBody>
      </p:sp>
      <p:sp>
        <p:nvSpPr>
          <p:cNvPr id="5" name="Shape 3"/>
          <p:cNvSpPr/>
          <p:nvPr/>
        </p:nvSpPr>
        <p:spPr>
          <a:xfrm>
            <a:off x="812800" y="1428750"/>
            <a:ext cx="10566400" cy="622300"/>
          </a:xfrm>
          <a:prstGeom prst="roundRect">
            <a:avLst>
              <a:gd name="adj" fmla="val 16327"/>
            </a:avLst>
          </a:prstGeom>
          <a:solidFill>
            <a:srgbClr val="0E1745"/>
          </a:solidFill>
          <a:ln/>
        </p:spPr>
      </p:sp>
      <p:sp>
        <p:nvSpPr>
          <p:cNvPr id="6" name="Shape 4"/>
          <p:cNvSpPr/>
          <p:nvPr/>
        </p:nvSpPr>
        <p:spPr>
          <a:xfrm>
            <a:off x="812800" y="1428750"/>
            <a:ext cx="10566400" cy="622300"/>
          </a:xfrm>
          <a:custGeom>
            <a:avLst/>
            <a:gdLst/>
            <a:ahLst/>
            <a:cxnLst/>
            <a:rect l="l" t="t" r="r" b="b"/>
            <a:pathLst>
              <a:path w="10566400" h="622300">
                <a:moveTo>
                  <a:pt x="101600" y="622300"/>
                </a:moveTo>
                <a:lnTo>
                  <a:pt x="101600" y="622300"/>
                </a:lnTo>
                <a:arcTo hR="101600" wR="101600" stAng="5400000" swAng="5400000"/>
                <a:lnTo>
                  <a:pt x="0" y="101600"/>
                </a:lnTo>
                <a:arcTo hR="101600" wR="101600" stAng="10800000" swAng="5400000"/>
                <a:lnTo>
                  <a:pt x="101600" y="0"/>
                </a:lnTo>
                <a:arcTo hR="101600" wR="50800" stAng="16200000" swAng="-5400000"/>
                <a:lnTo>
                  <a:pt x="50800" y="520700"/>
                </a:lnTo>
                <a:arcTo hR="101600" wR="50800" stAng="10800000" swAng="-5400000"/>
                <a:close/>
              </a:path>
            </a:pathLst>
          </a:custGeom>
          <a:solidFill>
            <a:srgbClr val="FF4D5E"/>
          </a:solidFill>
          <a:ln/>
        </p:spPr>
      </p:sp>
      <p:sp>
        <p:nvSpPr>
          <p:cNvPr id="7" name="Text 5"/>
          <p:cNvSpPr/>
          <p:nvPr/>
        </p:nvSpPr>
        <p:spPr>
          <a:xfrm>
            <a:off x="1028700" y="1517650"/>
            <a:ext cx="1049096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1 · Profit is decided in wholesale pricing: 85% of sales at 11.9% margin</a:t>
            </a:r>
            <a:endParaRPr lang="en-US" sz="1300" dirty="0"/>
          </a:p>
        </p:txBody>
      </p:sp>
      <p:sp>
        <p:nvSpPr>
          <p:cNvPr id="8" name="Text 6"/>
          <p:cNvSpPr/>
          <p:nvPr/>
        </p:nvSpPr>
        <p:spPr>
          <a:xfrm>
            <a:off x="723138" y="1752600"/>
            <a:ext cx="1049096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الربح بيتحدد في تسعير الجملة 85% من المبيعات بهامش 11.9%</a:t>
            </a:r>
            <a:endParaRPr lang="en-US" sz="1200" dirty="0"/>
          </a:p>
        </p:txBody>
      </p:sp>
      <p:sp>
        <p:nvSpPr>
          <p:cNvPr id="9" name="Shape 7"/>
          <p:cNvSpPr/>
          <p:nvPr/>
        </p:nvSpPr>
        <p:spPr>
          <a:xfrm>
            <a:off x="812800" y="2139950"/>
            <a:ext cx="10566400" cy="622300"/>
          </a:xfrm>
          <a:prstGeom prst="roundRect">
            <a:avLst>
              <a:gd name="adj" fmla="val 16327"/>
            </a:avLst>
          </a:prstGeom>
          <a:solidFill>
            <a:srgbClr val="0E1745"/>
          </a:solidFill>
          <a:ln/>
        </p:spPr>
      </p:sp>
      <p:sp>
        <p:nvSpPr>
          <p:cNvPr id="10" name="Shape 8"/>
          <p:cNvSpPr/>
          <p:nvPr/>
        </p:nvSpPr>
        <p:spPr>
          <a:xfrm>
            <a:off x="812800" y="2139950"/>
            <a:ext cx="10566400" cy="622300"/>
          </a:xfrm>
          <a:custGeom>
            <a:avLst/>
            <a:gdLst/>
            <a:ahLst/>
            <a:cxnLst/>
            <a:rect l="l" t="t" r="r" b="b"/>
            <a:pathLst>
              <a:path w="10566400" h="622300">
                <a:moveTo>
                  <a:pt x="101600" y="622300"/>
                </a:moveTo>
                <a:lnTo>
                  <a:pt x="101600" y="622300"/>
                </a:lnTo>
                <a:arcTo hR="101600" wR="101600" stAng="5400000" swAng="5400000"/>
                <a:lnTo>
                  <a:pt x="0" y="101600"/>
                </a:lnTo>
                <a:arcTo hR="101600" wR="101600" stAng="10800000" swAng="5400000"/>
                <a:lnTo>
                  <a:pt x="101600" y="0"/>
                </a:lnTo>
                <a:arcTo hR="101600" wR="50800" stAng="16200000" swAng="-5400000"/>
                <a:lnTo>
                  <a:pt x="50800" y="520700"/>
                </a:lnTo>
                <a:arcTo hR="101600" wR="50800" stAng="10800000" swAng="-5400000"/>
                <a:close/>
              </a:path>
            </a:pathLst>
          </a:custGeom>
          <a:solidFill>
            <a:srgbClr val="FF4D5E"/>
          </a:solidFill>
          <a:ln/>
        </p:spPr>
      </p:sp>
      <p:sp>
        <p:nvSpPr>
          <p:cNvPr id="11" name="Text 9"/>
          <p:cNvSpPr/>
          <p:nvPr/>
        </p:nvSpPr>
        <p:spPr>
          <a:xfrm>
            <a:off x="1028700" y="2228850"/>
            <a:ext cx="1049096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2 · Wholesale runs short while retail and online hold excess stock</a:t>
            </a:r>
            <a:endParaRPr lang="en-US" sz="1300" dirty="0"/>
          </a:p>
        </p:txBody>
      </p:sp>
      <p:sp>
        <p:nvSpPr>
          <p:cNvPr id="12" name="Text 10"/>
          <p:cNvSpPr/>
          <p:nvPr/>
        </p:nvSpPr>
        <p:spPr>
          <a:xfrm>
            <a:off x="723138" y="2463800"/>
            <a:ext cx="1049096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الجملة ناقصة والتجزئة والأونلاين معاهم زيادة</a:t>
            </a:r>
            <a:endParaRPr lang="en-US" sz="1200" dirty="0"/>
          </a:p>
        </p:txBody>
      </p:sp>
      <p:sp>
        <p:nvSpPr>
          <p:cNvPr id="13" name="Shape 11"/>
          <p:cNvSpPr/>
          <p:nvPr/>
        </p:nvSpPr>
        <p:spPr>
          <a:xfrm>
            <a:off x="812800" y="2851150"/>
            <a:ext cx="10566400" cy="622300"/>
          </a:xfrm>
          <a:prstGeom prst="roundRect">
            <a:avLst>
              <a:gd name="adj" fmla="val 16327"/>
            </a:avLst>
          </a:prstGeom>
          <a:solidFill>
            <a:srgbClr val="0E1745"/>
          </a:solidFill>
          <a:ln/>
        </p:spPr>
      </p:sp>
      <p:sp>
        <p:nvSpPr>
          <p:cNvPr id="14" name="Shape 12"/>
          <p:cNvSpPr/>
          <p:nvPr/>
        </p:nvSpPr>
        <p:spPr>
          <a:xfrm>
            <a:off x="812800" y="2851150"/>
            <a:ext cx="10566400" cy="622300"/>
          </a:xfrm>
          <a:custGeom>
            <a:avLst/>
            <a:gdLst/>
            <a:ahLst/>
            <a:cxnLst/>
            <a:rect l="l" t="t" r="r" b="b"/>
            <a:pathLst>
              <a:path w="10566400" h="622300">
                <a:moveTo>
                  <a:pt x="101600" y="622300"/>
                </a:moveTo>
                <a:lnTo>
                  <a:pt x="101600" y="622300"/>
                </a:lnTo>
                <a:arcTo hR="101600" wR="101600" stAng="5400000" swAng="5400000"/>
                <a:lnTo>
                  <a:pt x="0" y="101600"/>
                </a:lnTo>
                <a:arcTo hR="101600" wR="101600" stAng="10800000" swAng="5400000"/>
                <a:lnTo>
                  <a:pt x="101600" y="0"/>
                </a:lnTo>
                <a:arcTo hR="101600" wR="50800" stAng="16200000" swAng="-5400000"/>
                <a:lnTo>
                  <a:pt x="50800" y="520700"/>
                </a:lnTo>
                <a:arcTo hR="101600" wR="50800" stAng="10800000" swAng="-5400000"/>
                <a:close/>
              </a:path>
            </a:pathLst>
          </a:custGeom>
          <a:solidFill>
            <a:srgbClr val="FFC233"/>
          </a:solidFill>
          <a:ln/>
        </p:spPr>
      </p:sp>
      <p:sp>
        <p:nvSpPr>
          <p:cNvPr id="15" name="Text 13"/>
          <p:cNvSpPr/>
          <p:nvPr/>
        </p:nvSpPr>
        <p:spPr>
          <a:xfrm>
            <a:off x="1028700" y="2940050"/>
            <a:ext cx="1049096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3 · Two suppliers and the sewing stage cause most delays</a:t>
            </a:r>
            <a:endParaRPr lang="en-US" sz="1300" dirty="0"/>
          </a:p>
        </p:txBody>
      </p:sp>
      <p:sp>
        <p:nvSpPr>
          <p:cNvPr id="16" name="Text 14"/>
          <p:cNvSpPr/>
          <p:nvPr/>
        </p:nvSpPr>
        <p:spPr>
          <a:xfrm>
            <a:off x="723138" y="3175000"/>
            <a:ext cx="1049096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موردين اتنين ومرحلة الخياطة سبب أغلب التأخير</a:t>
            </a:r>
            <a:endParaRPr lang="en-US" sz="1200" dirty="0"/>
          </a:p>
        </p:txBody>
      </p:sp>
      <p:sp>
        <p:nvSpPr>
          <p:cNvPr id="17" name="Shape 15"/>
          <p:cNvSpPr/>
          <p:nvPr/>
        </p:nvSpPr>
        <p:spPr>
          <a:xfrm>
            <a:off x="812800" y="3562350"/>
            <a:ext cx="10566400" cy="622300"/>
          </a:xfrm>
          <a:prstGeom prst="roundRect">
            <a:avLst>
              <a:gd name="adj" fmla="val 16327"/>
            </a:avLst>
          </a:prstGeom>
          <a:solidFill>
            <a:srgbClr val="0E1745"/>
          </a:solidFill>
          <a:ln/>
        </p:spPr>
      </p:sp>
      <p:sp>
        <p:nvSpPr>
          <p:cNvPr id="18" name="Shape 16"/>
          <p:cNvSpPr/>
          <p:nvPr/>
        </p:nvSpPr>
        <p:spPr>
          <a:xfrm>
            <a:off x="812800" y="3562350"/>
            <a:ext cx="10566400" cy="622300"/>
          </a:xfrm>
          <a:custGeom>
            <a:avLst/>
            <a:gdLst/>
            <a:ahLst/>
            <a:cxnLst/>
            <a:rect l="l" t="t" r="r" b="b"/>
            <a:pathLst>
              <a:path w="10566400" h="622300">
                <a:moveTo>
                  <a:pt x="101600" y="622300"/>
                </a:moveTo>
                <a:lnTo>
                  <a:pt x="101600" y="622300"/>
                </a:lnTo>
                <a:arcTo hR="101600" wR="101600" stAng="5400000" swAng="5400000"/>
                <a:lnTo>
                  <a:pt x="0" y="101600"/>
                </a:lnTo>
                <a:arcTo hR="101600" wR="101600" stAng="10800000" swAng="5400000"/>
                <a:lnTo>
                  <a:pt x="101600" y="0"/>
                </a:lnTo>
                <a:arcTo hR="101600" wR="50800" stAng="16200000" swAng="-5400000"/>
                <a:lnTo>
                  <a:pt x="50800" y="520700"/>
                </a:lnTo>
                <a:arcTo hR="101600" wR="50800" stAng="10800000" swAng="-5400000"/>
                <a:close/>
              </a:path>
            </a:pathLst>
          </a:custGeom>
          <a:solidFill>
            <a:srgbClr val="FFC233"/>
          </a:solidFill>
          <a:ln/>
        </p:spPr>
      </p:sp>
      <p:sp>
        <p:nvSpPr>
          <p:cNvPr id="19" name="Text 17"/>
          <p:cNvSpPr/>
          <p:nvPr/>
        </p:nvSpPr>
        <p:spPr>
          <a:xfrm>
            <a:off x="1028700" y="3651250"/>
            <a:ext cx="1049096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4 · Shift marketing money from influencers to WhatsApp and Google</a:t>
            </a:r>
            <a:endParaRPr lang="en-US" sz="1300" dirty="0"/>
          </a:p>
        </p:txBody>
      </p:sp>
      <p:sp>
        <p:nvSpPr>
          <p:cNvPr id="20" name="Text 18"/>
          <p:cNvSpPr/>
          <p:nvPr/>
        </p:nvSpPr>
        <p:spPr>
          <a:xfrm>
            <a:off x="723138" y="3886200"/>
            <a:ext cx="1049096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حوّل ميزانية الإنفلونسرز لواتساب وجوجل</a:t>
            </a:r>
            <a:endParaRPr lang="en-US" sz="1200" dirty="0"/>
          </a:p>
        </p:txBody>
      </p:sp>
      <p:sp>
        <p:nvSpPr>
          <p:cNvPr id="21" name="Shape 19"/>
          <p:cNvSpPr/>
          <p:nvPr/>
        </p:nvSpPr>
        <p:spPr>
          <a:xfrm>
            <a:off x="812800" y="4273550"/>
            <a:ext cx="10566400" cy="622300"/>
          </a:xfrm>
          <a:prstGeom prst="roundRect">
            <a:avLst>
              <a:gd name="adj" fmla="val 16327"/>
            </a:avLst>
          </a:prstGeom>
          <a:solidFill>
            <a:srgbClr val="0E1745"/>
          </a:solidFill>
          <a:ln/>
        </p:spPr>
      </p:sp>
      <p:sp>
        <p:nvSpPr>
          <p:cNvPr id="22" name="Shape 20"/>
          <p:cNvSpPr/>
          <p:nvPr/>
        </p:nvSpPr>
        <p:spPr>
          <a:xfrm>
            <a:off x="812800" y="4273550"/>
            <a:ext cx="10566400" cy="622300"/>
          </a:xfrm>
          <a:custGeom>
            <a:avLst/>
            <a:gdLst/>
            <a:ahLst/>
            <a:cxnLst/>
            <a:rect l="l" t="t" r="r" b="b"/>
            <a:pathLst>
              <a:path w="10566400" h="622300">
                <a:moveTo>
                  <a:pt x="101600" y="622300"/>
                </a:moveTo>
                <a:lnTo>
                  <a:pt x="101600" y="622300"/>
                </a:lnTo>
                <a:arcTo hR="101600" wR="101600" stAng="5400000" swAng="5400000"/>
                <a:lnTo>
                  <a:pt x="0" y="101600"/>
                </a:lnTo>
                <a:arcTo hR="101600" wR="101600" stAng="10800000" swAng="5400000"/>
                <a:lnTo>
                  <a:pt x="101600" y="0"/>
                </a:lnTo>
                <a:arcTo hR="101600" wR="50800" stAng="16200000" swAng="-5400000"/>
                <a:lnTo>
                  <a:pt x="50800" y="520700"/>
                </a:lnTo>
                <a:arcTo hR="101600" wR="50800" stAng="10800000" swAng="-5400000"/>
                <a:close/>
              </a:path>
            </a:pathLst>
          </a:custGeom>
          <a:solidFill>
            <a:srgbClr val="2DD4BF"/>
          </a:solidFill>
          <a:ln/>
        </p:spPr>
      </p:sp>
      <p:sp>
        <p:nvSpPr>
          <p:cNvPr id="23" name="Text 21"/>
          <p:cNvSpPr/>
          <p:nvPr/>
        </p:nvSpPr>
        <p:spPr>
          <a:xfrm>
            <a:off x="1028700" y="4362450"/>
            <a:ext cx="10490962"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5 · The data is modeled: test small, measure, then scale</a:t>
            </a:r>
            <a:endParaRPr lang="en-US" sz="1300" dirty="0"/>
          </a:p>
        </p:txBody>
      </p:sp>
      <p:sp>
        <p:nvSpPr>
          <p:cNvPr id="24" name="Text 22"/>
          <p:cNvSpPr/>
          <p:nvPr/>
        </p:nvSpPr>
        <p:spPr>
          <a:xfrm>
            <a:off x="723138" y="4597400"/>
            <a:ext cx="1049096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4BFE6"/>
                </a:solidFill>
                <a:latin typeface="Cairo" pitchFamily="34" charset="0"/>
                <a:ea typeface="Cairo" pitchFamily="34" charset="-122"/>
                <a:cs typeface="Cairo" pitchFamily="34" charset="-120"/>
              </a:rPr>
              <a:t>الداتا تقديرية فجرّب صغير وقيس وبعدين وسّع</a:t>
            </a:r>
            <a:endParaRPr lang="en-US" sz="1200" dirty="0"/>
          </a:p>
        </p:txBody>
      </p:sp>
      <p:sp>
        <p:nvSpPr>
          <p:cNvPr id="25" name="Text 23"/>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0B24"/>
        </a:solidFill>
      </p:bgPr>
    </p:bg>
    <p:spTree>
      <p:nvGrpSpPr>
        <p:cNvPr id="1" name=""/>
        <p:cNvGrpSpPr/>
        <p:nvPr/>
      </p:nvGrpSpPr>
      <p:grpSpPr>
        <a:xfrm>
          <a:off x="0" y="0"/>
          <a:ext cx="0" cy="0"/>
          <a:chOff x="0" y="0"/>
          <a:chExt cx="0" cy="0"/>
        </a:xfrm>
      </p:grpSpPr>
      <p:sp>
        <p:nvSpPr>
          <p:cNvPr id="2" name="Text 0"/>
          <p:cNvSpPr/>
          <p:nvPr/>
        </p:nvSpPr>
        <p:spPr>
          <a:xfrm>
            <a:off x="812800" y="609600"/>
            <a:ext cx="4990606"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30-DAY PLAN</a:t>
            </a:r>
            <a:endParaRPr lang="en-US" sz="1200" dirty="0"/>
          </a:p>
        </p:txBody>
      </p:sp>
      <p:sp>
        <p:nvSpPr>
          <p:cNvPr id="3" name="Text 1"/>
          <p:cNvSpPr/>
          <p:nvPr>
            <p:ph type="title"/>
          </p:nvPr>
        </p:nvSpPr>
        <p:spPr>
          <a:xfrm>
            <a:off x="812800" y="857250"/>
            <a:ext cx="5814298"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Four weeks, four moves</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أربع أسابيع وأربع خطوات</a:t>
            </a:r>
            <a:endParaRPr lang="en-US" sz="1800" dirty="0"/>
          </a:p>
        </p:txBody>
      </p:sp>
      <p:sp>
        <p:nvSpPr>
          <p:cNvPr id="5" name="Shape 3"/>
          <p:cNvSpPr/>
          <p:nvPr/>
        </p:nvSpPr>
        <p:spPr>
          <a:xfrm>
            <a:off x="812800" y="1454150"/>
            <a:ext cx="2546350" cy="1905000"/>
          </a:xfrm>
          <a:prstGeom prst="roundRect">
            <a:avLst>
              <a:gd name="adj" fmla="val 5333"/>
            </a:avLst>
          </a:prstGeom>
          <a:solidFill>
            <a:srgbClr val="0E1745"/>
          </a:solidFill>
          <a:ln/>
        </p:spPr>
      </p:sp>
      <p:sp>
        <p:nvSpPr>
          <p:cNvPr id="6" name="Shape 4"/>
          <p:cNvSpPr/>
          <p:nvPr/>
        </p:nvSpPr>
        <p:spPr>
          <a:xfrm>
            <a:off x="812800" y="1454150"/>
            <a:ext cx="2546350" cy="1905000"/>
          </a:xfrm>
          <a:custGeom>
            <a:avLst/>
            <a:gdLst/>
            <a:ahLst/>
            <a:cxnLst/>
            <a:rect l="l" t="t" r="r" b="b"/>
            <a:pathLst>
              <a:path w="2546350" h="1905000">
                <a:moveTo>
                  <a:pt x="0" y="101600"/>
                </a:moveTo>
                <a:lnTo>
                  <a:pt x="0" y="101600"/>
                </a:lnTo>
                <a:arcTo hR="101600" wR="101600" stAng="10800000" swAng="5400000"/>
                <a:lnTo>
                  <a:pt x="2444750" y="0"/>
                </a:lnTo>
                <a:arcTo hR="101600" wR="101600" stAng="16200000" swAng="5400000"/>
                <a:lnTo>
                  <a:pt x="2546350" y="101600"/>
                </a:lnTo>
                <a:arcTo hR="50800" wR="101600" stAng="0" swAng="-5400000"/>
                <a:lnTo>
                  <a:pt x="101600" y="50800"/>
                </a:lnTo>
                <a:arcTo hR="50800" wR="101600" stAng="16200000" swAng="-5400000"/>
                <a:close/>
              </a:path>
            </a:pathLst>
          </a:custGeom>
          <a:solidFill>
            <a:srgbClr val="FF4D5E"/>
          </a:solidFill>
          <a:ln/>
        </p:spPr>
      </p:sp>
      <p:sp>
        <p:nvSpPr>
          <p:cNvPr id="7" name="Text 5"/>
          <p:cNvSpPr/>
          <p:nvPr/>
        </p:nvSpPr>
        <p:spPr>
          <a:xfrm>
            <a:off x="965200" y="1657350"/>
            <a:ext cx="230879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8791"/>
                </a:solidFill>
                <a:latin typeface="Cairo" pitchFamily="34" charset="0"/>
                <a:ea typeface="Cairo" pitchFamily="34" charset="-122"/>
                <a:cs typeface="Cairo" pitchFamily="34" charset="-120"/>
              </a:rPr>
              <a:t>Week 1</a:t>
            </a:r>
            <a:endParaRPr lang="en-US" sz="1400" dirty="0"/>
          </a:p>
        </p:txBody>
      </p:sp>
      <p:sp>
        <p:nvSpPr>
          <p:cNvPr id="8" name="Text 6"/>
          <p:cNvSpPr/>
          <p:nvPr/>
        </p:nvSpPr>
        <p:spPr>
          <a:xfrm>
            <a:off x="965200" y="1968500"/>
            <a:ext cx="230879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Price</a:t>
            </a:r>
            <a:endParaRPr lang="en-US" sz="1400" dirty="0"/>
          </a:p>
        </p:txBody>
      </p:sp>
      <p:sp>
        <p:nvSpPr>
          <p:cNvPr id="9" name="Text 7"/>
          <p:cNvSpPr/>
          <p:nvPr/>
        </p:nvSpPr>
        <p:spPr>
          <a:xfrm>
            <a:off x="965200" y="2279650"/>
            <a:ext cx="2308796"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Apply the 30% discount cap on one wholesale tier</a:t>
            </a:r>
            <a:endParaRPr lang="en-US" sz="1200" dirty="0"/>
          </a:p>
        </p:txBody>
      </p:sp>
      <p:sp>
        <p:nvSpPr>
          <p:cNvPr id="10" name="Text 8"/>
          <p:cNvSpPr/>
          <p:nvPr/>
        </p:nvSpPr>
        <p:spPr>
          <a:xfrm>
            <a:off x="897954" y="2749550"/>
            <a:ext cx="2308796"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طبّق سقف 30% على شريحة جملة واحدة</a:t>
            </a:r>
            <a:endParaRPr lang="en-US" sz="1200" dirty="0"/>
          </a:p>
        </p:txBody>
      </p:sp>
      <p:sp>
        <p:nvSpPr>
          <p:cNvPr id="11" name="Shape 9"/>
          <p:cNvSpPr/>
          <p:nvPr/>
        </p:nvSpPr>
        <p:spPr>
          <a:xfrm>
            <a:off x="3486150" y="1454150"/>
            <a:ext cx="2546350" cy="1905000"/>
          </a:xfrm>
          <a:prstGeom prst="roundRect">
            <a:avLst>
              <a:gd name="adj" fmla="val 5333"/>
            </a:avLst>
          </a:prstGeom>
          <a:solidFill>
            <a:srgbClr val="0E1745"/>
          </a:solidFill>
          <a:ln/>
        </p:spPr>
      </p:sp>
      <p:sp>
        <p:nvSpPr>
          <p:cNvPr id="12" name="Shape 10"/>
          <p:cNvSpPr/>
          <p:nvPr/>
        </p:nvSpPr>
        <p:spPr>
          <a:xfrm>
            <a:off x="3486150" y="1454150"/>
            <a:ext cx="2546350" cy="1905000"/>
          </a:xfrm>
          <a:custGeom>
            <a:avLst/>
            <a:gdLst/>
            <a:ahLst/>
            <a:cxnLst/>
            <a:rect l="l" t="t" r="r" b="b"/>
            <a:pathLst>
              <a:path w="2546350" h="1905000">
                <a:moveTo>
                  <a:pt x="0" y="101600"/>
                </a:moveTo>
                <a:lnTo>
                  <a:pt x="0" y="101600"/>
                </a:lnTo>
                <a:arcTo hR="101600" wR="101600" stAng="10800000" swAng="5400000"/>
                <a:lnTo>
                  <a:pt x="2444750" y="0"/>
                </a:lnTo>
                <a:arcTo hR="101600" wR="101600" stAng="16200000" swAng="5400000"/>
                <a:lnTo>
                  <a:pt x="2546350" y="101600"/>
                </a:lnTo>
                <a:arcTo hR="50800" wR="101600" stAng="0" swAng="-5400000"/>
                <a:lnTo>
                  <a:pt x="101600" y="50800"/>
                </a:lnTo>
                <a:arcTo hR="50800" wR="101600" stAng="16200000" swAng="-5400000"/>
                <a:close/>
              </a:path>
            </a:pathLst>
          </a:custGeom>
          <a:solidFill>
            <a:srgbClr val="FF9248"/>
          </a:solidFill>
          <a:ln/>
        </p:spPr>
      </p:sp>
      <p:sp>
        <p:nvSpPr>
          <p:cNvPr id="13" name="Text 11"/>
          <p:cNvSpPr/>
          <p:nvPr/>
        </p:nvSpPr>
        <p:spPr>
          <a:xfrm>
            <a:off x="3638550" y="1657350"/>
            <a:ext cx="230879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9248"/>
                </a:solidFill>
                <a:latin typeface="Cairo" pitchFamily="34" charset="0"/>
                <a:ea typeface="Cairo" pitchFamily="34" charset="-122"/>
                <a:cs typeface="Cairo" pitchFamily="34" charset="-120"/>
              </a:rPr>
              <a:t>Week 2</a:t>
            </a:r>
            <a:endParaRPr lang="en-US" sz="1400" dirty="0"/>
          </a:p>
        </p:txBody>
      </p:sp>
      <p:sp>
        <p:nvSpPr>
          <p:cNvPr id="14" name="Text 12"/>
          <p:cNvSpPr/>
          <p:nvPr/>
        </p:nvSpPr>
        <p:spPr>
          <a:xfrm>
            <a:off x="3638550" y="1968500"/>
            <a:ext cx="230879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Stock</a:t>
            </a:r>
            <a:endParaRPr lang="en-US" sz="1400" dirty="0"/>
          </a:p>
        </p:txBody>
      </p:sp>
      <p:sp>
        <p:nvSpPr>
          <p:cNvPr id="15" name="Text 13"/>
          <p:cNvSpPr/>
          <p:nvPr/>
        </p:nvSpPr>
        <p:spPr>
          <a:xfrm>
            <a:off x="3638550" y="2279650"/>
            <a:ext cx="2308796"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Place the purchase order for the 43 short wholesale products</a:t>
            </a:r>
            <a:endParaRPr lang="en-US" sz="1200" dirty="0"/>
          </a:p>
        </p:txBody>
      </p:sp>
      <p:sp>
        <p:nvSpPr>
          <p:cNvPr id="16" name="Text 14"/>
          <p:cNvSpPr/>
          <p:nvPr/>
        </p:nvSpPr>
        <p:spPr>
          <a:xfrm>
            <a:off x="3571303" y="2749550"/>
            <a:ext cx="2308796"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اطلب الـ43 منتج الناقصين في الجملة</a:t>
            </a:r>
            <a:endParaRPr lang="en-US" sz="1200" dirty="0"/>
          </a:p>
        </p:txBody>
      </p:sp>
      <p:sp>
        <p:nvSpPr>
          <p:cNvPr id="17" name="Shape 15"/>
          <p:cNvSpPr/>
          <p:nvPr/>
        </p:nvSpPr>
        <p:spPr>
          <a:xfrm>
            <a:off x="6159500" y="1454150"/>
            <a:ext cx="2546350" cy="1905000"/>
          </a:xfrm>
          <a:prstGeom prst="roundRect">
            <a:avLst>
              <a:gd name="adj" fmla="val 5333"/>
            </a:avLst>
          </a:prstGeom>
          <a:solidFill>
            <a:srgbClr val="0E1745"/>
          </a:solidFill>
          <a:ln/>
        </p:spPr>
      </p:sp>
      <p:sp>
        <p:nvSpPr>
          <p:cNvPr id="18" name="Shape 16"/>
          <p:cNvSpPr/>
          <p:nvPr/>
        </p:nvSpPr>
        <p:spPr>
          <a:xfrm>
            <a:off x="6159500" y="1454150"/>
            <a:ext cx="2546350" cy="1905000"/>
          </a:xfrm>
          <a:custGeom>
            <a:avLst/>
            <a:gdLst/>
            <a:ahLst/>
            <a:cxnLst/>
            <a:rect l="l" t="t" r="r" b="b"/>
            <a:pathLst>
              <a:path w="2546350" h="1905000">
                <a:moveTo>
                  <a:pt x="0" y="101600"/>
                </a:moveTo>
                <a:lnTo>
                  <a:pt x="0" y="101600"/>
                </a:lnTo>
                <a:arcTo hR="101600" wR="101600" stAng="10800000" swAng="5400000"/>
                <a:lnTo>
                  <a:pt x="2444750" y="0"/>
                </a:lnTo>
                <a:arcTo hR="101600" wR="101600" stAng="16200000" swAng="5400000"/>
                <a:lnTo>
                  <a:pt x="2546350" y="101600"/>
                </a:lnTo>
                <a:arcTo hR="50800" wR="101600" stAng="0" swAng="-5400000"/>
                <a:lnTo>
                  <a:pt x="101600" y="50800"/>
                </a:lnTo>
                <a:arcTo hR="50800" wR="101600" stAng="16200000" swAng="-5400000"/>
                <a:close/>
              </a:path>
            </a:pathLst>
          </a:custGeom>
          <a:solidFill>
            <a:srgbClr val="FFC233"/>
          </a:solidFill>
          <a:ln/>
        </p:spPr>
      </p:sp>
      <p:sp>
        <p:nvSpPr>
          <p:cNvPr id="19" name="Text 17"/>
          <p:cNvSpPr/>
          <p:nvPr/>
        </p:nvSpPr>
        <p:spPr>
          <a:xfrm>
            <a:off x="6311900" y="1657350"/>
            <a:ext cx="230879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C233"/>
                </a:solidFill>
                <a:latin typeface="Cairo" pitchFamily="34" charset="0"/>
                <a:ea typeface="Cairo" pitchFamily="34" charset="-122"/>
                <a:cs typeface="Cairo" pitchFamily="34" charset="-120"/>
              </a:rPr>
              <a:t>Week 3</a:t>
            </a:r>
            <a:endParaRPr lang="en-US" sz="1400" dirty="0"/>
          </a:p>
        </p:txBody>
      </p:sp>
      <p:sp>
        <p:nvSpPr>
          <p:cNvPr id="20" name="Text 18"/>
          <p:cNvSpPr/>
          <p:nvPr/>
        </p:nvSpPr>
        <p:spPr>
          <a:xfrm>
            <a:off x="6311900" y="1968500"/>
            <a:ext cx="230879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Customers</a:t>
            </a:r>
            <a:endParaRPr lang="en-US" sz="1400" dirty="0"/>
          </a:p>
        </p:txBody>
      </p:sp>
      <p:sp>
        <p:nvSpPr>
          <p:cNvPr id="21" name="Text 19"/>
          <p:cNvSpPr/>
          <p:nvPr/>
        </p:nvSpPr>
        <p:spPr>
          <a:xfrm>
            <a:off x="6311900" y="2279650"/>
            <a:ext cx="2308796"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Send the win-back offer to 80% and hold out 20%</a:t>
            </a:r>
            <a:endParaRPr lang="en-US" sz="1200" dirty="0"/>
          </a:p>
        </p:txBody>
      </p:sp>
      <p:sp>
        <p:nvSpPr>
          <p:cNvPr id="22" name="Text 20"/>
          <p:cNvSpPr/>
          <p:nvPr/>
        </p:nvSpPr>
        <p:spPr>
          <a:xfrm>
            <a:off x="6244654" y="2749550"/>
            <a:ext cx="2308796"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ابعت عرض الاسترجاع لـ80% واحتفظ بـ20% للمقارنة</a:t>
            </a:r>
            <a:endParaRPr lang="en-US" sz="1200" dirty="0"/>
          </a:p>
        </p:txBody>
      </p:sp>
      <p:sp>
        <p:nvSpPr>
          <p:cNvPr id="23" name="Shape 21"/>
          <p:cNvSpPr/>
          <p:nvPr/>
        </p:nvSpPr>
        <p:spPr>
          <a:xfrm>
            <a:off x="8832850" y="1454150"/>
            <a:ext cx="2546350" cy="1905000"/>
          </a:xfrm>
          <a:prstGeom prst="roundRect">
            <a:avLst>
              <a:gd name="adj" fmla="val 5333"/>
            </a:avLst>
          </a:prstGeom>
          <a:solidFill>
            <a:srgbClr val="0E1745"/>
          </a:solidFill>
          <a:ln/>
        </p:spPr>
      </p:sp>
      <p:sp>
        <p:nvSpPr>
          <p:cNvPr id="24" name="Shape 22"/>
          <p:cNvSpPr/>
          <p:nvPr/>
        </p:nvSpPr>
        <p:spPr>
          <a:xfrm>
            <a:off x="8832850" y="1454150"/>
            <a:ext cx="2546350" cy="1905000"/>
          </a:xfrm>
          <a:custGeom>
            <a:avLst/>
            <a:gdLst/>
            <a:ahLst/>
            <a:cxnLst/>
            <a:rect l="l" t="t" r="r" b="b"/>
            <a:pathLst>
              <a:path w="2546350" h="1905000">
                <a:moveTo>
                  <a:pt x="0" y="101600"/>
                </a:moveTo>
                <a:lnTo>
                  <a:pt x="0" y="101600"/>
                </a:lnTo>
                <a:arcTo hR="101600" wR="101600" stAng="10800000" swAng="5400000"/>
                <a:lnTo>
                  <a:pt x="2444750" y="0"/>
                </a:lnTo>
                <a:arcTo hR="101600" wR="101600" stAng="16200000" swAng="5400000"/>
                <a:lnTo>
                  <a:pt x="2546350" y="101600"/>
                </a:lnTo>
                <a:arcTo hR="50800" wR="101600" stAng="0" swAng="-5400000"/>
                <a:lnTo>
                  <a:pt x="101600" y="50800"/>
                </a:lnTo>
                <a:arcTo hR="50800" wR="101600" stAng="16200000" swAng="-5400000"/>
                <a:close/>
              </a:path>
            </a:pathLst>
          </a:custGeom>
          <a:solidFill>
            <a:srgbClr val="2DD4BF"/>
          </a:solidFill>
          <a:ln/>
        </p:spPr>
      </p:sp>
      <p:sp>
        <p:nvSpPr>
          <p:cNvPr id="25" name="Text 23"/>
          <p:cNvSpPr/>
          <p:nvPr/>
        </p:nvSpPr>
        <p:spPr>
          <a:xfrm>
            <a:off x="8985250" y="1657350"/>
            <a:ext cx="230879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Cairo" pitchFamily="34" charset="0"/>
                <a:ea typeface="Cairo" pitchFamily="34" charset="-122"/>
                <a:cs typeface="Cairo" pitchFamily="34" charset="-120"/>
              </a:rPr>
              <a:t>Week 4</a:t>
            </a:r>
            <a:endParaRPr lang="en-US" sz="1400" dirty="0"/>
          </a:p>
        </p:txBody>
      </p:sp>
      <p:sp>
        <p:nvSpPr>
          <p:cNvPr id="26" name="Text 24"/>
          <p:cNvSpPr/>
          <p:nvPr/>
        </p:nvSpPr>
        <p:spPr>
          <a:xfrm>
            <a:off x="8985250" y="1968500"/>
            <a:ext cx="230879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F"/>
                </a:solidFill>
                <a:latin typeface="Cairo" pitchFamily="34" charset="0"/>
                <a:ea typeface="Cairo" pitchFamily="34" charset="-122"/>
                <a:cs typeface="Cairo" pitchFamily="34" charset="-120"/>
              </a:rPr>
              <a:t>Review</a:t>
            </a:r>
            <a:endParaRPr lang="en-US" sz="1400" dirty="0"/>
          </a:p>
        </p:txBody>
      </p:sp>
      <p:sp>
        <p:nvSpPr>
          <p:cNvPr id="27" name="Text 25"/>
          <p:cNvSpPr/>
          <p:nvPr/>
        </p:nvSpPr>
        <p:spPr>
          <a:xfrm>
            <a:off x="8985250" y="2279650"/>
            <a:ext cx="2308796" cy="4318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5FF"/>
                </a:solidFill>
                <a:latin typeface="Cairo" pitchFamily="34" charset="0"/>
                <a:ea typeface="Cairo" pitchFamily="34" charset="-122"/>
                <a:cs typeface="Cairo" pitchFamily="34" charset="-120"/>
              </a:rPr>
              <a:t>Compare against the control, keep what works</a:t>
            </a:r>
            <a:endParaRPr lang="en-US" sz="1200" dirty="0"/>
          </a:p>
        </p:txBody>
      </p:sp>
      <p:sp>
        <p:nvSpPr>
          <p:cNvPr id="28" name="Text 26"/>
          <p:cNvSpPr/>
          <p:nvPr/>
        </p:nvSpPr>
        <p:spPr>
          <a:xfrm>
            <a:off x="8918004" y="2749550"/>
            <a:ext cx="2308796"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قارن بالمجموعة الثابتة وكمّل في اللي نجح</a:t>
            </a:r>
            <a:endParaRPr lang="en-US" sz="1200" dirty="0"/>
          </a:p>
        </p:txBody>
      </p:sp>
      <p:sp>
        <p:nvSpPr>
          <p:cNvPr id="29" name="Text 27"/>
          <p:cNvSpPr/>
          <p:nvPr/>
        </p:nvSpPr>
        <p:spPr>
          <a:xfrm>
            <a:off x="812800" y="3536950"/>
            <a:ext cx="10883392"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BFE6"/>
                </a:solidFill>
                <a:latin typeface="Cairo" pitchFamily="34" charset="0"/>
                <a:ea typeface="Cairo" pitchFamily="34" charset="-122"/>
                <a:cs typeface="Cairo" pitchFamily="34" charset="-120"/>
              </a:rPr>
              <a:t>Also in the first month: ask the two late suppliers for a written delivery plan, and move part of the influencer budget to WhatsApp and Google.</a:t>
            </a:r>
            <a:endParaRPr lang="en-US" sz="1300" dirty="0"/>
          </a:p>
        </p:txBody>
      </p:sp>
      <p:sp>
        <p:nvSpPr>
          <p:cNvPr id="30" name="Text 28"/>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340"/>
        </a:solidFill>
      </p:bgPr>
    </p:bg>
    <p:spTree>
      <p:nvGrpSpPr>
        <p:cNvPr id="1" name=""/>
        <p:cNvGrpSpPr/>
        <p:nvPr/>
      </p:nvGrpSpPr>
      <p:grpSpPr>
        <a:xfrm>
          <a:off x="0" y="0"/>
          <a:ext cx="0" cy="0"/>
          <a:chOff x="0" y="0"/>
          <a:chExt cx="0" cy="0"/>
        </a:xfrm>
      </p:grpSpPr>
      <p:sp>
        <p:nvSpPr>
          <p:cNvPr id="2" name="Text 0"/>
          <p:cNvSpPr/>
          <p:nvPr/>
        </p:nvSpPr>
        <p:spPr>
          <a:xfrm>
            <a:off x="812800" y="609600"/>
            <a:ext cx="5003074"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Cairo" pitchFamily="34" charset="0"/>
                <a:ea typeface="Cairo" pitchFamily="34" charset="-122"/>
                <a:cs typeface="Cairo" pitchFamily="34" charset="-120"/>
              </a:rPr>
              <a:t>NEXT STEPS</a:t>
            </a:r>
            <a:endParaRPr lang="en-US" sz="1200" dirty="0"/>
          </a:p>
        </p:txBody>
      </p:sp>
      <p:sp>
        <p:nvSpPr>
          <p:cNvPr id="3" name="Text 1"/>
          <p:cNvSpPr/>
          <p:nvPr>
            <p:ph type="title"/>
          </p:nvPr>
        </p:nvSpPr>
        <p:spPr>
          <a:xfrm>
            <a:off x="812800" y="857250"/>
            <a:ext cx="582882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5FF"/>
                </a:solidFill>
                <a:latin typeface="Montserrat" pitchFamily="34" charset="0"/>
                <a:ea typeface="Montserrat" pitchFamily="34" charset="-122"/>
                <a:cs typeface="Montserrat" pitchFamily="34" charset="-120"/>
              </a:rPr>
              <a:t>From demo to daily tool</a:t>
            </a:r>
            <a:endParaRPr lang="en-US" sz="3000" dirty="0"/>
          </a:p>
        </p:txBody>
      </p:sp>
      <p:sp>
        <p:nvSpPr>
          <p:cNvPr id="4" name="Text 2"/>
          <p:cNvSpPr/>
          <p:nvPr/>
        </p:nvSpPr>
        <p:spPr>
          <a:xfrm>
            <a:off x="7716520" y="984250"/>
            <a:ext cx="3662680" cy="317500"/>
          </a:xfrm>
          <a:prstGeom prst="rect">
            <a:avLst/>
          </a:prstGeom>
          <a:noFill/>
          <a:ln/>
        </p:spPr>
        <p:txBody>
          <a:bodyPr wrap="square" lIns="0" tIns="0" rIns="0" bIns="0" rtlCol="0" anchor="t">
            <a:normAutofit/>
          </a:bodyPr>
          <a:lstStyle/>
          <a:p>
            <a:pPr algn="r" indent="0" marL="0">
              <a:lnSpc>
                <a:spcPts val="2340"/>
              </a:lnSpc>
              <a:buNone/>
            </a:pPr>
            <a:r>
              <a:rPr lang="en-US" sz="1800" b="1" dirty="0">
                <a:solidFill>
                  <a:srgbClr val="22D3EE"/>
                </a:solidFill>
                <a:latin typeface="Cairo" pitchFamily="34" charset="0"/>
                <a:ea typeface="Cairo" pitchFamily="34" charset="-122"/>
                <a:cs typeface="Cairo" pitchFamily="34" charset="-120"/>
              </a:rPr>
              <a:t>من نموذج لأداة يومية</a:t>
            </a:r>
            <a:endParaRPr lang="en-US" sz="1800" dirty="0"/>
          </a:p>
        </p:txBody>
      </p:sp>
      <p:sp>
        <p:nvSpPr>
          <p:cNvPr id="5" name="Shape 3"/>
          <p:cNvSpPr/>
          <p:nvPr/>
        </p:nvSpPr>
        <p:spPr>
          <a:xfrm>
            <a:off x="812800" y="1454150"/>
            <a:ext cx="10566400" cy="704850"/>
          </a:xfrm>
          <a:prstGeom prst="roundRect">
            <a:avLst>
              <a:gd name="adj" fmla="val 14414"/>
            </a:avLst>
          </a:prstGeom>
          <a:solidFill>
            <a:srgbClr val="0E1745"/>
          </a:solidFill>
          <a:ln/>
        </p:spPr>
      </p:sp>
      <p:sp>
        <p:nvSpPr>
          <p:cNvPr id="6" name="Shape 4"/>
          <p:cNvSpPr/>
          <p:nvPr/>
        </p:nvSpPr>
        <p:spPr>
          <a:xfrm>
            <a:off x="812800" y="1454150"/>
            <a:ext cx="10566400" cy="704850"/>
          </a:xfrm>
          <a:custGeom>
            <a:avLst/>
            <a:gdLst/>
            <a:ahLst/>
            <a:cxnLst/>
            <a:rect l="l" t="t" r="r" b="b"/>
            <a:pathLst>
              <a:path w="10566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5B8CFF"/>
          </a:solidFill>
          <a:ln/>
        </p:spPr>
      </p:sp>
      <p:sp>
        <p:nvSpPr>
          <p:cNvPr id="7" name="Text 5"/>
          <p:cNvSpPr/>
          <p:nvPr/>
        </p:nvSpPr>
        <p:spPr>
          <a:xfrm>
            <a:off x="1041400" y="1568450"/>
            <a:ext cx="104648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1 · Validate every number on the client's real records</a:t>
            </a:r>
            <a:endParaRPr lang="en-US" sz="1300" dirty="0"/>
          </a:p>
        </p:txBody>
      </p:sp>
      <p:sp>
        <p:nvSpPr>
          <p:cNvPr id="8" name="Text 6"/>
          <p:cNvSpPr/>
          <p:nvPr/>
        </p:nvSpPr>
        <p:spPr>
          <a:xfrm>
            <a:off x="736600" y="1816100"/>
            <a:ext cx="104648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راجع كل رقم على سجلات العميل الفعلية</a:t>
            </a:r>
            <a:endParaRPr lang="en-US" sz="1200" dirty="0"/>
          </a:p>
        </p:txBody>
      </p:sp>
      <p:sp>
        <p:nvSpPr>
          <p:cNvPr id="9" name="Shape 7"/>
          <p:cNvSpPr/>
          <p:nvPr/>
        </p:nvSpPr>
        <p:spPr>
          <a:xfrm>
            <a:off x="812800" y="2260600"/>
            <a:ext cx="10566400" cy="704850"/>
          </a:xfrm>
          <a:prstGeom prst="roundRect">
            <a:avLst>
              <a:gd name="adj" fmla="val 14414"/>
            </a:avLst>
          </a:prstGeom>
          <a:solidFill>
            <a:srgbClr val="0E1745"/>
          </a:solidFill>
          <a:ln/>
        </p:spPr>
      </p:sp>
      <p:sp>
        <p:nvSpPr>
          <p:cNvPr id="10" name="Shape 8"/>
          <p:cNvSpPr/>
          <p:nvPr/>
        </p:nvSpPr>
        <p:spPr>
          <a:xfrm>
            <a:off x="812800" y="2260600"/>
            <a:ext cx="10566400" cy="704850"/>
          </a:xfrm>
          <a:custGeom>
            <a:avLst/>
            <a:gdLst/>
            <a:ahLst/>
            <a:cxnLst/>
            <a:rect l="l" t="t" r="r" b="b"/>
            <a:pathLst>
              <a:path w="10566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22D3EE"/>
          </a:solidFill>
          <a:ln/>
        </p:spPr>
      </p:sp>
      <p:sp>
        <p:nvSpPr>
          <p:cNvPr id="11" name="Text 9"/>
          <p:cNvSpPr/>
          <p:nvPr/>
        </p:nvSpPr>
        <p:spPr>
          <a:xfrm>
            <a:off x="1041400" y="2374900"/>
            <a:ext cx="104648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2 · Connect live data so the dashboard refreshes by itself</a:t>
            </a:r>
            <a:endParaRPr lang="en-US" sz="1300" dirty="0"/>
          </a:p>
        </p:txBody>
      </p:sp>
      <p:sp>
        <p:nvSpPr>
          <p:cNvPr id="12" name="Text 10"/>
          <p:cNvSpPr/>
          <p:nvPr/>
        </p:nvSpPr>
        <p:spPr>
          <a:xfrm>
            <a:off x="736600" y="2622550"/>
            <a:ext cx="104648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اربط بيانات حية عشان اللوحة تتحدث لوحدها</a:t>
            </a:r>
            <a:endParaRPr lang="en-US" sz="1200" dirty="0"/>
          </a:p>
        </p:txBody>
      </p:sp>
      <p:sp>
        <p:nvSpPr>
          <p:cNvPr id="13" name="Shape 11"/>
          <p:cNvSpPr/>
          <p:nvPr/>
        </p:nvSpPr>
        <p:spPr>
          <a:xfrm>
            <a:off x="812800" y="3067050"/>
            <a:ext cx="10566400" cy="704850"/>
          </a:xfrm>
          <a:prstGeom prst="roundRect">
            <a:avLst>
              <a:gd name="adj" fmla="val 14414"/>
            </a:avLst>
          </a:prstGeom>
          <a:solidFill>
            <a:srgbClr val="0E1745"/>
          </a:solidFill>
          <a:ln/>
        </p:spPr>
      </p:sp>
      <p:sp>
        <p:nvSpPr>
          <p:cNvPr id="14" name="Shape 12"/>
          <p:cNvSpPr/>
          <p:nvPr/>
        </p:nvSpPr>
        <p:spPr>
          <a:xfrm>
            <a:off x="812800" y="3067050"/>
            <a:ext cx="10566400" cy="704850"/>
          </a:xfrm>
          <a:custGeom>
            <a:avLst/>
            <a:gdLst/>
            <a:ahLst/>
            <a:cxnLst/>
            <a:rect l="l" t="t" r="r" b="b"/>
            <a:pathLst>
              <a:path w="10566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9248"/>
          </a:solidFill>
          <a:ln/>
        </p:spPr>
      </p:sp>
      <p:sp>
        <p:nvSpPr>
          <p:cNvPr id="15" name="Text 13"/>
          <p:cNvSpPr/>
          <p:nvPr/>
        </p:nvSpPr>
        <p:spPr>
          <a:xfrm>
            <a:off x="1041400" y="3181350"/>
            <a:ext cx="104648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3 · Run the discount pilot and the win-back test</a:t>
            </a:r>
            <a:endParaRPr lang="en-US" sz="1300" dirty="0"/>
          </a:p>
        </p:txBody>
      </p:sp>
      <p:sp>
        <p:nvSpPr>
          <p:cNvPr id="16" name="Text 14"/>
          <p:cNvSpPr/>
          <p:nvPr/>
        </p:nvSpPr>
        <p:spPr>
          <a:xfrm>
            <a:off x="736600" y="3429000"/>
            <a:ext cx="104648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شغّل تجربة الخصم واختبار استرجاع العملاء</a:t>
            </a:r>
            <a:endParaRPr lang="en-US" sz="1200" dirty="0"/>
          </a:p>
        </p:txBody>
      </p:sp>
      <p:sp>
        <p:nvSpPr>
          <p:cNvPr id="17" name="Shape 15"/>
          <p:cNvSpPr/>
          <p:nvPr/>
        </p:nvSpPr>
        <p:spPr>
          <a:xfrm>
            <a:off x="812800" y="3873500"/>
            <a:ext cx="10566400" cy="704850"/>
          </a:xfrm>
          <a:prstGeom prst="roundRect">
            <a:avLst>
              <a:gd name="adj" fmla="val 14414"/>
            </a:avLst>
          </a:prstGeom>
          <a:solidFill>
            <a:srgbClr val="0E1745"/>
          </a:solidFill>
          <a:ln/>
        </p:spPr>
      </p:sp>
      <p:sp>
        <p:nvSpPr>
          <p:cNvPr id="18" name="Shape 16"/>
          <p:cNvSpPr/>
          <p:nvPr/>
        </p:nvSpPr>
        <p:spPr>
          <a:xfrm>
            <a:off x="812800" y="3873500"/>
            <a:ext cx="10566400" cy="704850"/>
          </a:xfrm>
          <a:custGeom>
            <a:avLst/>
            <a:gdLst/>
            <a:ahLst/>
            <a:cxnLst/>
            <a:rect l="l" t="t" r="r" b="b"/>
            <a:pathLst>
              <a:path w="10566400" h="704850">
                <a:moveTo>
                  <a:pt x="101600" y="704850"/>
                </a:moveTo>
                <a:lnTo>
                  <a:pt x="101600" y="704850"/>
                </a:lnTo>
                <a:arcTo hR="101600" wR="101600" stAng="5400000" swAng="5400000"/>
                <a:lnTo>
                  <a:pt x="0" y="101600"/>
                </a:lnTo>
                <a:arcTo hR="101600" wR="101600" stAng="10800000" swAng="5400000"/>
                <a:lnTo>
                  <a:pt x="101600" y="0"/>
                </a:lnTo>
                <a:arcTo hR="101600" wR="50800" stAng="16200000" swAng="-5400000"/>
                <a:lnTo>
                  <a:pt x="50800" y="603250"/>
                </a:lnTo>
                <a:arcTo hR="101600" wR="50800" stAng="10800000" swAng="-5400000"/>
                <a:close/>
              </a:path>
            </a:pathLst>
          </a:custGeom>
          <a:solidFill>
            <a:srgbClr val="FFC233"/>
          </a:solidFill>
          <a:ln/>
        </p:spPr>
      </p:sp>
      <p:sp>
        <p:nvSpPr>
          <p:cNvPr id="19" name="Text 17"/>
          <p:cNvSpPr/>
          <p:nvPr/>
        </p:nvSpPr>
        <p:spPr>
          <a:xfrm>
            <a:off x="1041400" y="3987800"/>
            <a:ext cx="10464800"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2F5FF"/>
                </a:solidFill>
                <a:latin typeface="Cairo" pitchFamily="34" charset="0"/>
                <a:ea typeface="Cairo" pitchFamily="34" charset="-122"/>
                <a:cs typeface="Cairo" pitchFamily="34" charset="-120"/>
              </a:rPr>
              <a:t>4 · Receive the missing files and resolve the data gaps</a:t>
            </a:r>
            <a:endParaRPr lang="en-US" sz="1300" dirty="0"/>
          </a:p>
        </p:txBody>
      </p:sp>
      <p:sp>
        <p:nvSpPr>
          <p:cNvPr id="20" name="Text 18"/>
          <p:cNvSpPr/>
          <p:nvPr/>
        </p:nvSpPr>
        <p:spPr>
          <a:xfrm>
            <a:off x="736600" y="4235450"/>
            <a:ext cx="10464800"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B4BFE6"/>
                </a:solidFill>
                <a:latin typeface="Cairo" pitchFamily="34" charset="0"/>
                <a:ea typeface="Cairo" pitchFamily="34" charset="-122"/>
                <a:cs typeface="Cairo" pitchFamily="34" charset="-120"/>
              </a:rPr>
              <a:t>استلم الملفات الناقصة وسدّ فجوات البيانات</a:t>
            </a:r>
            <a:endParaRPr lang="en-US" sz="1200" dirty="0"/>
          </a:p>
        </p:txBody>
      </p:sp>
      <p:sp>
        <p:nvSpPr>
          <p:cNvPr id="21" name="Text 19"/>
          <p:cNvSpPr/>
          <p:nvPr/>
        </p:nvSpPr>
        <p:spPr>
          <a:xfrm>
            <a:off x="654304" y="4756150"/>
            <a:ext cx="10883392" cy="41275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22D3EE"/>
                </a:solidFill>
                <a:latin typeface="Montserrat" pitchFamily="34" charset="0"/>
                <a:ea typeface="Montserrat" pitchFamily="34" charset="-122"/>
                <a:cs typeface="Montserrat" pitchFamily="34" charset="-120"/>
              </a:rPr>
              <a:t>Thank you · شكراً</a:t>
            </a:r>
            <a:endParaRPr lang="en-US" sz="2200" dirty="0"/>
          </a:p>
        </p:txBody>
      </p:sp>
      <p:sp>
        <p:nvSpPr>
          <p:cNvPr id="22" name="Text 20"/>
          <p:cNvSpPr/>
          <p:nvPr/>
        </p:nvSpPr>
        <p:spPr>
          <a:xfrm>
            <a:off x="812800" y="6242050"/>
            <a:ext cx="27604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197C8"/>
                </a:solidFill>
                <a:latin typeface="Cairo" pitchFamily="34" charset="0"/>
                <a:ea typeface="Cairo" pitchFamily="34" charset="-122"/>
                <a:cs typeface="Cairo" pitchFamily="34" charset="-120"/>
              </a:rPr>
              <a:t>El-Sharnouby Command Center · 20</a:t>
            </a:r>
            <a:endParaRPr lang="en-US" sz="1200" dirty="0"/>
          </a:p>
        </p:txBody>
      </p:sp>
    </p:spTree>
  </p:cSld>
  <p:clrMapOvr>
    <a:masterClrMapping/>
  </p:clrMapOvr>
</p:sld>
</file>

<file path=ppt/theme/theme1.xml><?xml version="1.0" encoding="utf-8"?>
<a:theme xmlns:a="http://schemas.openxmlformats.org/drawingml/2006/main" name="El-Sharnouby Command Center: Analysis &amp; Decisions">
  <a:themeElements>
    <a:clrScheme name="El-Sharnouby Command Center: Analysis &amp; Decisions">
      <a:dk1>
        <a:srgbClr val="060B24"/>
      </a:dk1>
      <a:lt1>
        <a:srgbClr val="F2F5FF"/>
      </a:lt1>
      <a:dk2>
        <a:srgbClr val="1E223A"/>
      </a:dk2>
      <a:lt2>
        <a:srgbClr val="B7BBC8"/>
      </a:lt2>
      <a:accent1>
        <a:srgbClr val="B4BFE6"/>
      </a:accent1>
      <a:accent2>
        <a:srgbClr val="0E1745"/>
      </a:accent2>
      <a:accent3>
        <a:srgbClr val="22D3EE"/>
      </a:accent3>
      <a:accent4>
        <a:srgbClr val="8197C8"/>
      </a:accent4>
      <a:accent5>
        <a:srgbClr val="0B1340"/>
      </a:accent5>
      <a:accent6>
        <a:srgbClr val="2DD4BF"/>
      </a:accent6>
      <a:hlink>
        <a:srgbClr val="0563C1"/>
      </a:hlink>
      <a:folHlink>
        <a:srgbClr val="954F72"/>
      </a:folHlink>
    </a:clrScheme>
    <a:fontScheme name="El-Sharnouby Command Center: Analysis &amp; Decision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i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El-Sharnouby Command Center: Analysis &amp; Decisions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Cairo
Copyright 2009 The Cairo Project Authors (https://github.com/Gue3bara/Cairo)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Montserrat
Copyright 2024 The Montserrat.Git Project Authors (https://github.com/JulietaUla/Montserrat.git)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2026-10-21T15:55:46Z</dcterms:created>
  <dcterms:modified xsi:type="dcterms:W3CDTF">2026-10-21T15:55:46Z</dcterms:modified>
</cp:coreProperties>
</file>